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58" autoAdjust="0"/>
  </p:normalViewPr>
  <p:slideViewPr>
    <p:cSldViewPr snapToGrid="0" snapToObjects="1">
      <p:cViewPr varScale="1">
        <p:scale>
          <a:sx n="124" d="100"/>
          <a:sy n="124" d="100"/>
        </p:scale>
        <p:origin x="7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98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Уважаемые председатель и члены государственной экзаменационной комиссии! Вашему вниманию представляется выпускная квалификационная работа на тему «Адаптация векторного поиска в производственную деятельность маркетплейса». Работу выполнил Анхаев Абдулла Шамилевич, научный руководитель — кандидат экономических наук, доцент Раджабов Карахан Якубович. Оригинальность текста по результатам проверки — 91 %.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Актуальность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 </a:t>
            </a:r>
            <a:r>
              <a:rPr dirty="0" err="1"/>
              <a:t>Каталоги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маркетплейсов</a:t>
            </a:r>
            <a:r>
              <a:rPr dirty="0"/>
              <a:t> </a:t>
            </a:r>
            <a:r>
              <a:rPr dirty="0" err="1"/>
              <a:t>достигают</a:t>
            </a:r>
            <a:r>
              <a:rPr dirty="0"/>
              <a:t> </a:t>
            </a:r>
            <a:r>
              <a:rPr dirty="0" err="1"/>
              <a:t>десятков</a:t>
            </a:r>
            <a:r>
              <a:rPr dirty="0"/>
              <a:t> </a:t>
            </a:r>
            <a:r>
              <a:rPr dirty="0" err="1"/>
              <a:t>миллионов</a:t>
            </a:r>
            <a:r>
              <a:rPr dirty="0"/>
              <a:t> </a:t>
            </a:r>
            <a:r>
              <a:rPr dirty="0" err="1"/>
              <a:t>позиций</a:t>
            </a:r>
            <a:r>
              <a:rPr dirty="0"/>
              <a:t>, а </a:t>
            </a:r>
            <a:r>
              <a:rPr dirty="0" err="1"/>
              <a:t>классический</a:t>
            </a:r>
            <a:r>
              <a:rPr dirty="0"/>
              <a:t> </a:t>
            </a:r>
            <a:r>
              <a:rPr dirty="0" err="1"/>
              <a:t>полнотекстовый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 </a:t>
            </a:r>
            <a:r>
              <a:rPr dirty="0" err="1"/>
              <a:t>смысл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чувствителен</a:t>
            </a:r>
            <a:r>
              <a:rPr dirty="0"/>
              <a:t> к </a:t>
            </a:r>
            <a:r>
              <a:rPr dirty="0" err="1"/>
              <a:t>опечаткам</a:t>
            </a:r>
            <a:r>
              <a:rPr dirty="0"/>
              <a:t>, </a:t>
            </a:r>
            <a:r>
              <a:rPr dirty="0" err="1"/>
              <a:t>синонимии</a:t>
            </a:r>
            <a:r>
              <a:rPr dirty="0"/>
              <a:t> и </a:t>
            </a:r>
            <a:r>
              <a:rPr dirty="0" err="1"/>
              <a:t>многоязычным</a:t>
            </a:r>
            <a:r>
              <a:rPr dirty="0"/>
              <a:t> </a:t>
            </a:r>
            <a:r>
              <a:rPr dirty="0" err="1"/>
              <a:t>описаниям</a:t>
            </a:r>
            <a:r>
              <a:rPr dirty="0"/>
              <a:t> —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страдают</a:t>
            </a:r>
            <a:r>
              <a:rPr dirty="0"/>
              <a:t> </a:t>
            </a:r>
            <a:r>
              <a:rPr dirty="0" err="1"/>
              <a:t>конверсия</a:t>
            </a:r>
            <a:r>
              <a:rPr dirty="0"/>
              <a:t> и </a:t>
            </a:r>
            <a:r>
              <a:rPr dirty="0" err="1"/>
              <a:t>выручка</a:t>
            </a:r>
            <a:r>
              <a:rPr dirty="0"/>
              <a:t> </a:t>
            </a:r>
            <a:r>
              <a:rPr dirty="0" err="1"/>
              <a:t>платформы</a:t>
            </a:r>
            <a:r>
              <a:rPr dirty="0"/>
              <a:t>. </a:t>
            </a:r>
            <a:r>
              <a:rPr dirty="0" err="1"/>
              <a:t>Альтернатива</a:t>
            </a:r>
            <a:r>
              <a:rPr dirty="0"/>
              <a:t> — </a:t>
            </a:r>
            <a:r>
              <a:rPr dirty="0" err="1"/>
              <a:t>векторный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: </a:t>
            </a:r>
            <a:r>
              <a:rPr dirty="0" err="1"/>
              <a:t>товары</a:t>
            </a:r>
            <a:r>
              <a:rPr dirty="0"/>
              <a:t> и </a:t>
            </a:r>
            <a:r>
              <a:rPr dirty="0" err="1"/>
              <a:t>запросы</a:t>
            </a:r>
            <a:r>
              <a:rPr dirty="0"/>
              <a:t> </a:t>
            </a:r>
            <a:r>
              <a:rPr dirty="0" err="1"/>
              <a:t>представляются</a:t>
            </a:r>
            <a:r>
              <a:rPr dirty="0"/>
              <a:t> </a:t>
            </a:r>
            <a:r>
              <a:rPr dirty="0" err="1"/>
              <a:t>эмбеддингами</a:t>
            </a:r>
            <a:r>
              <a:rPr dirty="0"/>
              <a:t>, а </a:t>
            </a:r>
            <a:r>
              <a:rPr dirty="0" err="1"/>
              <a:t>релевантность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близостью</a:t>
            </a:r>
            <a:r>
              <a:rPr dirty="0"/>
              <a:t> </a:t>
            </a:r>
            <a:r>
              <a:rPr dirty="0" err="1"/>
              <a:t>векторов</a:t>
            </a:r>
            <a:r>
              <a:rPr dirty="0"/>
              <a:t>.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исследования</a:t>
            </a:r>
            <a:r>
              <a:rPr dirty="0"/>
              <a:t> —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подбора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маркетплейсе</a:t>
            </a:r>
            <a:r>
              <a:rPr dirty="0"/>
              <a:t>; </a:t>
            </a:r>
            <a:r>
              <a:rPr dirty="0" err="1"/>
              <a:t>предмет</a:t>
            </a:r>
            <a:r>
              <a:rPr dirty="0"/>
              <a:t> — </a:t>
            </a:r>
            <a:r>
              <a:rPr dirty="0" err="1"/>
              <a:t>технологии</a:t>
            </a:r>
            <a:r>
              <a:rPr dirty="0"/>
              <a:t> </a:t>
            </a:r>
            <a:r>
              <a:rPr dirty="0" err="1"/>
              <a:t>векторного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адаптации</a:t>
            </a:r>
            <a:r>
              <a:rPr dirty="0"/>
              <a:t>. </a:t>
            </a:r>
            <a:r>
              <a:rPr dirty="0" err="1"/>
              <a:t>Цель</a:t>
            </a:r>
            <a:r>
              <a:rPr dirty="0"/>
              <a:t> —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адаптации</a:t>
            </a:r>
            <a:r>
              <a:rPr dirty="0"/>
              <a:t> и </a:t>
            </a:r>
            <a:r>
              <a:rPr dirty="0" err="1"/>
              <a:t>разработать</a:t>
            </a:r>
            <a:r>
              <a:rPr dirty="0"/>
              <a:t> </a:t>
            </a:r>
            <a:r>
              <a:rPr dirty="0" err="1"/>
              <a:t>демонстрационный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языке</a:t>
            </a:r>
            <a:r>
              <a:rPr dirty="0"/>
              <a:t> Go с </a:t>
            </a:r>
            <a:r>
              <a:rPr dirty="0" err="1"/>
              <a:t>библиотекой</a:t>
            </a:r>
            <a:r>
              <a:rPr dirty="0"/>
              <a:t> </a:t>
            </a:r>
            <a:r>
              <a:rPr dirty="0" err="1"/>
              <a:t>USearch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достижения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решались</a:t>
            </a:r>
            <a:r>
              <a:rPr dirty="0"/>
              <a:t> </a:t>
            </a:r>
            <a:r>
              <a:rPr dirty="0" err="1"/>
              <a:t>пять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—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</a:t>
            </a:r>
            <a:r>
              <a:rPr dirty="0" err="1"/>
              <a:t>математических</a:t>
            </a:r>
            <a:r>
              <a:rPr dirty="0"/>
              <a:t> </a:t>
            </a:r>
            <a:r>
              <a:rPr dirty="0" err="1"/>
              <a:t>основ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апробации</a:t>
            </a:r>
            <a:r>
              <a:rPr dirty="0"/>
              <a:t> </a:t>
            </a:r>
            <a:r>
              <a:rPr dirty="0" err="1"/>
              <a:t>прототипа</a:t>
            </a:r>
            <a:r>
              <a:rPr dirty="0"/>
              <a:t>.</a:t>
            </a:r>
          </a:p>
          <a:p>
            <a:endParaRPr lang="ru-RU" dirty="0"/>
          </a:p>
          <a:p>
            <a:r>
              <a:rPr lang="ru-RU" dirty="0"/>
              <a:t>Эмбеддинг — числовой вектор фиксированной размерности, отражающий смысловое содержание объекта (текста, товара, изображения).</a:t>
            </a:r>
          </a:p>
          <a:p>
            <a:r>
              <a:rPr lang="ru-RU" dirty="0"/>
              <a:t>Релевантность — степень соответствия найденного результата информационной потребности запроса.</a:t>
            </a:r>
          </a:p>
          <a:p>
            <a:r>
              <a:rPr lang="ru-RU" dirty="0"/>
              <a:t>kNN (k-Nearest Neighbors) — метод точного поиска k ближайших соседей по заданной метрике расстояния.</a:t>
            </a:r>
          </a:p>
          <a:p>
            <a:r>
              <a:rPr lang="ru-RU" dirty="0"/>
              <a:t>ANN (Approximate Nearest Neighbors) — приближённый поиск ближайших соседей, дающий выигрыш в скорости за счёт небольшой потери точности.</a:t>
            </a:r>
          </a:p>
          <a:p>
            <a:r>
              <a:rPr lang="ru-RU" dirty="0"/>
              <a:t>HNSW (Hierarchical Navigable Small World) — алгоритм ANN-поиска на основе иерархического графа близости векторов.</a:t>
            </a:r>
          </a:p>
          <a:p>
            <a:r>
              <a:rPr lang="ru-RU" dirty="0"/>
              <a:t>Апробация — практическая проверка работоспособности разработанного прототипа на реальных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Первая глава посвящена математическому фундаменту. Текст товара — название, категория и описание — преобразуется предобученной моделью-энкодером в плотный вектор, эмбеддинг; близость векторов отражает смысловое сходство, а поиск сводится к задаче k ближайших соседей. Близость измеряется метриками: евклидовым и манхэттенским расстояниями и косинусной мерой — стандартом для текстовых эмбеддингов; для нормированных векторов она совпадает со скалярным произведением. Точный перебор стоит O(N·n), а классические деревья из-за «проклятия размерности» вырождаются в перебор. Поэтому применяется приближённый поиск: LSH, случайные проекции, IVF/PQ и графовые методы. Наилучший баланс полноты и скорости даёт иерархический граф HNSW со сложностью поиска порядка логарифма от размера каталога — он и выбран для реализации.</a:t>
            </a:r>
          </a:p>
          <a:p>
            <a:endParaRPr lang="ru-RU" dirty="0"/>
          </a:p>
          <a:p>
            <a:r>
              <a:rPr lang="ru-RU" dirty="0"/>
              <a:t>kNN — точный поиск k ближайших соседей объекта по метрике расстояния.</a:t>
            </a:r>
          </a:p>
          <a:p>
            <a:r>
              <a:rPr lang="ru-RU" dirty="0"/>
              <a:t>O(N·n) — асимптотическая сложность полного перебора: N — число объектов в базе, n — размерность вектора.</a:t>
            </a:r>
          </a:p>
          <a:p>
            <a:r>
              <a:rPr lang="ru-RU" dirty="0"/>
              <a:t>k-d-дерево — структура данных, разбивающая пространство по координатным осям для ускорения точного поиска в невысокой размерности.</a:t>
            </a:r>
          </a:p>
          <a:p>
            <a:r>
              <a:rPr lang="ru-RU" dirty="0"/>
              <a:t>ball-дерево — структура данных, разбивающая пространство на вложенные гиперсферы для ускорения поиска соседей.</a:t>
            </a:r>
          </a:p>
          <a:p>
            <a:r>
              <a:rPr lang="ru-RU" dirty="0"/>
              <a:t>R-дерево — структура индексирования, группирующая объекты в минимальные ограничивающие прямоугольники (bounding box).</a:t>
            </a:r>
          </a:p>
          <a:p>
            <a:r>
              <a:rPr lang="ru-RU" dirty="0"/>
              <a:t>ANN — приближённый поиск ближайших соседей (жертвует точностью ради скорости).</a:t>
            </a:r>
          </a:p>
          <a:p>
            <a:r>
              <a:rPr lang="ru-RU" dirty="0"/>
              <a:t>LSH (Locality-Sensitive Hashing) — хеширование, при котором близкие векторы с высокой вероятностью попадают в одну корзину.</a:t>
            </a:r>
          </a:p>
          <a:p>
            <a:r>
              <a:rPr lang="ru-RU" dirty="0"/>
              <a:t>IVF/PQ (Inverted File / Product Quantization) — метод индексирования: IVF кластеризует векторы, PQ сжимает их квантованием для экономии памяти.</a:t>
            </a:r>
          </a:p>
          <a:p>
            <a:r>
              <a:rPr lang="ru-RU" dirty="0"/>
              <a:t>Энкодер — модель, преобразующая исходный объект (текст, изображение) в вектор-эмбеддинг.</a:t>
            </a:r>
          </a:p>
          <a:p>
            <a:r>
              <a:rPr lang="ru-RU" dirty="0"/>
              <a:t>Евклидово расстояние — метрика, равная длине прямой между концами двух векторов.</a:t>
            </a:r>
          </a:p>
          <a:p>
            <a:r>
              <a:rPr lang="ru-RU" dirty="0"/>
              <a:t>Манхэттенское расстояние — метрика, равная сумме модулей разностей координат векторов.</a:t>
            </a:r>
          </a:p>
          <a:p>
            <a:r>
              <a:rPr lang="ru-RU" dirty="0"/>
              <a:t>Косинусная мера — мера сходства векторов по углу между ними, не зависящая от их длины.</a:t>
            </a:r>
          </a:p>
          <a:p>
            <a:r>
              <a:rPr lang="ru-RU" dirty="0"/>
              <a:t>Скалярное произведение — сумма произведений соответствующих координат двух векторов; мера сходства.</a:t>
            </a:r>
          </a:p>
          <a:p>
            <a:r>
              <a:rPr lang="ru-RU" dirty="0"/>
              <a:t>Нормированные векторы — векторы единичной длины, для которых скалярное произведение совпадает с косинусной мерой.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Во второй главе проанализирована архитектура маркетплейса. Это высоконагруженная распределённая система, построенная по микросервисному принципу: шлюз, каталог, корзина, заказы, поиск и рекомендации. Семантический поиск встраивается как выделенный векторный сервис с конвейером индексирования: данные каталога преобразуются в эмбеддинги и попадают в векторный индекс, а при запросе выполняется поиск ближайших соседей. Рассмотрены три подхода к размещению индекса: встраиваемая библиотека, выделенная векторная СУБД и расширение существующего хранилища. Сформулированы требования: задержка p95 не выше 100–200 миллисекунд, полнота recall@k не ниже 0,95, тысячи запросов в секунду и обновление индекса за минуты. Эти требования стали системой критериев выбора инструментов в третьей главе.</a:t>
            </a:r>
          </a:p>
          <a:p>
            <a:endParaRPr lang="ru-RU" dirty="0"/>
          </a:p>
          <a:p>
            <a:r>
              <a:rPr lang="ru-RU" dirty="0"/>
              <a:t>Полнота recall@k — доля релевантных объектов, найденных среди первых k результатов, от их общего числа.</a:t>
            </a:r>
          </a:p>
          <a:p>
            <a:r>
              <a:rPr lang="ru-RU" dirty="0"/>
              <a:t>Близость ANN — соответствие результатов приближённого поиска результатам точного (эталонного) поиска kNN.</a:t>
            </a:r>
          </a:p>
          <a:p>
            <a:r>
              <a:rPr lang="ru-RU" dirty="0"/>
              <a:t>QPS (Queries Per Second) — число запросов, обрабатываемых системой в секунду; метрика пропускной способности.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В </a:t>
            </a:r>
            <a:r>
              <a:rPr dirty="0" err="1"/>
              <a:t>третьей</a:t>
            </a:r>
            <a:r>
              <a:rPr dirty="0"/>
              <a:t> </a:t>
            </a:r>
            <a:r>
              <a:rPr dirty="0" err="1"/>
              <a:t>главе</a:t>
            </a:r>
            <a:r>
              <a:rPr dirty="0"/>
              <a:t> </a:t>
            </a:r>
            <a:r>
              <a:rPr dirty="0" err="1"/>
              <a:t>выполнен</a:t>
            </a:r>
            <a:r>
              <a:rPr dirty="0"/>
              <a:t> </a:t>
            </a:r>
            <a:r>
              <a:rPr dirty="0" err="1"/>
              <a:t>обзор</a:t>
            </a:r>
            <a:r>
              <a:rPr dirty="0"/>
              <a:t> </a:t>
            </a:r>
            <a:r>
              <a:rPr dirty="0" err="1"/>
              <a:t>программных</a:t>
            </a:r>
            <a:r>
              <a:rPr dirty="0"/>
              <a:t> </a:t>
            </a:r>
            <a:r>
              <a:rPr dirty="0" err="1"/>
              <a:t>средств</a:t>
            </a:r>
            <a:r>
              <a:rPr dirty="0"/>
              <a:t>. </a:t>
            </a:r>
            <a:r>
              <a:rPr dirty="0" err="1"/>
              <a:t>Сопоставлены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класса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: </a:t>
            </a:r>
            <a:r>
              <a:rPr dirty="0" err="1"/>
              <a:t>встраиваемые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, </a:t>
            </a:r>
            <a:r>
              <a:rPr dirty="0" err="1"/>
              <a:t>выделенные</a:t>
            </a:r>
            <a:r>
              <a:rPr dirty="0"/>
              <a:t> </a:t>
            </a:r>
            <a:r>
              <a:rPr dirty="0" err="1"/>
              <a:t>векторные</a:t>
            </a:r>
            <a:r>
              <a:rPr dirty="0"/>
              <a:t> СУБД и </a:t>
            </a:r>
            <a:r>
              <a:rPr dirty="0" err="1"/>
              <a:t>расширения</a:t>
            </a:r>
            <a:r>
              <a:rPr dirty="0"/>
              <a:t> </a:t>
            </a:r>
            <a:r>
              <a:rPr dirty="0" err="1"/>
              <a:t>существующих</a:t>
            </a:r>
            <a:r>
              <a:rPr dirty="0"/>
              <a:t> </a:t>
            </a:r>
            <a:r>
              <a:rPr dirty="0" err="1"/>
              <a:t>движков</a:t>
            </a:r>
            <a:r>
              <a:rPr dirty="0"/>
              <a:t>. </a:t>
            </a:r>
            <a:r>
              <a:rPr dirty="0" err="1"/>
              <a:t>Критериями</a:t>
            </a:r>
            <a:r>
              <a:rPr dirty="0"/>
              <a:t> </a:t>
            </a:r>
            <a:r>
              <a:rPr dirty="0" err="1"/>
              <a:t>выступили</a:t>
            </a:r>
            <a:r>
              <a:rPr dirty="0"/>
              <a:t> </a:t>
            </a:r>
            <a:r>
              <a:rPr dirty="0" err="1"/>
              <a:t>полнота</a:t>
            </a:r>
            <a:r>
              <a:rPr dirty="0"/>
              <a:t> и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,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биндингов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Go, </a:t>
            </a:r>
            <a:r>
              <a:rPr dirty="0" err="1"/>
              <a:t>простота</a:t>
            </a:r>
            <a:r>
              <a:rPr dirty="0"/>
              <a:t> </a:t>
            </a:r>
            <a:r>
              <a:rPr dirty="0" err="1"/>
              <a:t>развёртывания</a:t>
            </a:r>
            <a:r>
              <a:rPr dirty="0"/>
              <a:t> и </a:t>
            </a:r>
            <a:r>
              <a:rPr dirty="0" err="1"/>
              <a:t>ресурсоёмкость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лёгкого</a:t>
            </a:r>
            <a:r>
              <a:rPr dirty="0"/>
              <a:t> </a:t>
            </a:r>
            <a:r>
              <a:rPr dirty="0" err="1"/>
              <a:t>микросервиса</a:t>
            </a:r>
            <a:r>
              <a:rPr dirty="0"/>
              <a:t> с </a:t>
            </a:r>
            <a:r>
              <a:rPr dirty="0" err="1"/>
              <a:t>минимальной</a:t>
            </a:r>
            <a:r>
              <a:rPr dirty="0"/>
              <a:t> </a:t>
            </a:r>
            <a:r>
              <a:rPr dirty="0" err="1"/>
              <a:t>задержкой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целесообразна</a:t>
            </a:r>
            <a:r>
              <a:rPr dirty="0"/>
              <a:t> </a:t>
            </a:r>
            <a:r>
              <a:rPr dirty="0" err="1"/>
              <a:t>встраиваемая</a:t>
            </a:r>
            <a:r>
              <a:rPr dirty="0"/>
              <a:t> </a:t>
            </a:r>
            <a:r>
              <a:rPr dirty="0" err="1"/>
              <a:t>библиотека</a:t>
            </a:r>
            <a:r>
              <a:rPr dirty="0"/>
              <a:t> — </a:t>
            </a:r>
            <a:r>
              <a:rPr dirty="0" err="1"/>
              <a:t>выбрана</a:t>
            </a:r>
            <a:r>
              <a:rPr dirty="0"/>
              <a:t> </a:t>
            </a:r>
            <a:r>
              <a:rPr dirty="0" err="1"/>
              <a:t>USearch</a:t>
            </a:r>
            <a:r>
              <a:rPr dirty="0"/>
              <a:t>: </a:t>
            </a:r>
            <a:r>
              <a:rPr dirty="0" err="1"/>
              <a:t>компактная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 HNSW с Go-</a:t>
            </a:r>
            <a:r>
              <a:rPr dirty="0" err="1"/>
              <a:t>биндингами</a:t>
            </a:r>
            <a:r>
              <a:rPr dirty="0"/>
              <a:t>, </a:t>
            </a:r>
            <a:r>
              <a:rPr dirty="0" err="1"/>
              <a:t>квантованием</a:t>
            </a:r>
            <a:r>
              <a:rPr dirty="0"/>
              <a:t> и </a:t>
            </a:r>
            <a:r>
              <a:rPr dirty="0" err="1"/>
              <a:t>персистентностью</a:t>
            </a:r>
            <a:r>
              <a:rPr dirty="0"/>
              <a:t>;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диаграмме</a:t>
            </a:r>
            <a:r>
              <a:rPr dirty="0"/>
              <a:t>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находится</a:t>
            </a:r>
            <a:r>
              <a:rPr dirty="0"/>
              <a:t> в </a:t>
            </a:r>
            <a:r>
              <a:rPr dirty="0" err="1"/>
              <a:t>зоне</a:t>
            </a:r>
            <a:r>
              <a:rPr dirty="0"/>
              <a:t> </a:t>
            </a:r>
            <a:r>
              <a:rPr dirty="0" err="1"/>
              <a:t>высокой</a:t>
            </a:r>
            <a:r>
              <a:rPr dirty="0"/>
              <a:t> </a:t>
            </a:r>
            <a:r>
              <a:rPr dirty="0" err="1"/>
              <a:t>полноты</a:t>
            </a:r>
            <a:r>
              <a:rPr dirty="0"/>
              <a:t> и </a:t>
            </a:r>
            <a:r>
              <a:rPr dirty="0" err="1"/>
              <a:t>высокой</a:t>
            </a:r>
            <a:r>
              <a:rPr dirty="0"/>
              <a:t> </a:t>
            </a:r>
            <a:r>
              <a:rPr dirty="0" err="1"/>
              <a:t>скорости</a:t>
            </a:r>
            <a:r>
              <a:rPr dirty="0"/>
              <a:t>. </a:t>
            </a:r>
            <a:r>
              <a:rPr dirty="0" err="1"/>
              <a:t>Язык</a:t>
            </a:r>
            <a:r>
              <a:rPr dirty="0"/>
              <a:t> Go </a:t>
            </a:r>
            <a:r>
              <a:rPr dirty="0" err="1"/>
              <a:t>обоснован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средство</a:t>
            </a:r>
            <a:r>
              <a:rPr dirty="0"/>
              <a:t> </a:t>
            </a:r>
            <a:r>
              <a:rPr dirty="0" err="1"/>
              <a:t>построения</a:t>
            </a:r>
            <a:r>
              <a:rPr dirty="0"/>
              <a:t> </a:t>
            </a:r>
            <a:r>
              <a:rPr dirty="0" err="1"/>
              <a:t>высоконагруженных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микросервисов</a:t>
            </a:r>
            <a:r>
              <a:rPr dirty="0"/>
              <a:t>. </a:t>
            </a:r>
            <a:r>
              <a:rPr dirty="0" err="1"/>
              <a:t>Эмбеддинги</a:t>
            </a:r>
            <a:r>
              <a:rPr dirty="0"/>
              <a:t> </a:t>
            </a:r>
            <a:r>
              <a:rPr dirty="0" err="1"/>
              <a:t>строит</a:t>
            </a:r>
            <a:r>
              <a:rPr dirty="0"/>
              <a:t> </a:t>
            </a:r>
            <a:r>
              <a:rPr dirty="0" err="1"/>
              <a:t>многоязычная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paraphrase-multilingual-MiniLM-L12-v2: 384-мерные </a:t>
            </a:r>
            <a:r>
              <a:rPr dirty="0" err="1"/>
              <a:t>нормированные</a:t>
            </a:r>
            <a:r>
              <a:rPr dirty="0"/>
              <a:t> </a:t>
            </a:r>
            <a:r>
              <a:rPr dirty="0" err="1"/>
              <a:t>векторы</a:t>
            </a:r>
            <a:r>
              <a:rPr dirty="0"/>
              <a:t> и </a:t>
            </a:r>
            <a:r>
              <a:rPr dirty="0" err="1"/>
              <a:t>единое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русского</a:t>
            </a:r>
            <a:r>
              <a:rPr dirty="0"/>
              <a:t> и </a:t>
            </a:r>
            <a:r>
              <a:rPr dirty="0" err="1"/>
              <a:t>английского</a:t>
            </a:r>
            <a:r>
              <a:rPr dirty="0"/>
              <a:t> </a:t>
            </a:r>
            <a:r>
              <a:rPr dirty="0" err="1"/>
              <a:t>языков</a:t>
            </a:r>
            <a:r>
              <a:rPr dirty="0"/>
              <a:t>.</a:t>
            </a:r>
          </a:p>
          <a:p>
            <a:endParaRPr lang="ru-RU" dirty="0"/>
          </a:p>
          <a:p>
            <a:r>
              <a:rPr lang="ru-RU" dirty="0"/>
              <a:t>hnswlib — C++/Python-библиотека, реализующая алгоритм HNSW для приближённого поиска ближайших соседей.</a:t>
            </a:r>
          </a:p>
          <a:p>
            <a:r>
              <a:rPr lang="ru-RU" dirty="0"/>
              <a:t>Annoy — библиотека ANN-поиска от Spotify на основе случайных проекционных деревьев.</a:t>
            </a:r>
          </a:p>
          <a:p>
            <a:r>
              <a:rPr lang="ru-RU" dirty="0"/>
              <a:t>Milvus — распределённая векторная база данных с открытым исходным кодом.</a:t>
            </a:r>
          </a:p>
          <a:p>
            <a:r>
              <a:rPr lang="ru-RU" dirty="0"/>
              <a:t>Qdrant — векторная база данных на Rust с поддержкой фильтрации по метаданным.</a:t>
            </a:r>
          </a:p>
          <a:p>
            <a:r>
              <a:rPr lang="ru-RU" dirty="0"/>
              <a:t>pgvector — расширение PostgreSQL для хранения векторов и ANN-поиска средствами SQL.</a:t>
            </a:r>
          </a:p>
          <a:p>
            <a:r>
              <a:rPr lang="ru-RU" dirty="0"/>
              <a:t>Elasticsearch — поисковая платформа на базе Lucene с поддержкой полнотекстового и векторного поиска.</a:t>
            </a:r>
          </a:p>
          <a:p>
            <a:r>
              <a:rPr lang="ru-RU" dirty="0"/>
              <a:t>Биндинги для Go — программные обёртки, позволяющие использовать библиотеку на другом языке (например, C++) из кода на Go.</a:t>
            </a:r>
          </a:p>
          <a:p>
            <a:r>
              <a:rPr lang="ru-RU" dirty="0"/>
              <a:t>Квантование — сжатие векторов за счёт снижения точности представления координат для экономии памяти.</a:t>
            </a:r>
          </a:p>
          <a:p>
            <a:r>
              <a:rPr lang="ru-RU" dirty="0"/>
              <a:t>Персистентность — способность индекса сохранять данные на диск и восстанавливать их после перезапуска.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итог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—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VecMarket</a:t>
            </a:r>
            <a:r>
              <a:rPr dirty="0"/>
              <a:t>: </a:t>
            </a:r>
            <a:r>
              <a:rPr dirty="0" err="1"/>
              <a:t>пять</a:t>
            </a:r>
            <a:r>
              <a:rPr dirty="0"/>
              <a:t> </a:t>
            </a:r>
            <a:r>
              <a:rPr dirty="0" err="1"/>
              <a:t>контейнеров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управлением</a:t>
            </a:r>
            <a:r>
              <a:rPr dirty="0"/>
              <a:t> docker-compose. </a:t>
            </a:r>
            <a:r>
              <a:rPr dirty="0" err="1"/>
              <a:t>Шлюз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Go — </a:t>
            </a:r>
            <a:r>
              <a:rPr dirty="0" err="1"/>
              <a:t>единая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входа</a:t>
            </a:r>
            <a:r>
              <a:rPr dirty="0"/>
              <a:t>,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раздаёт</a:t>
            </a:r>
            <a:r>
              <a:rPr dirty="0"/>
              <a:t> </a:t>
            </a:r>
            <a:r>
              <a:rPr dirty="0" err="1"/>
              <a:t>веб-фронтенд</a:t>
            </a:r>
            <a:r>
              <a:rPr dirty="0"/>
              <a:t>;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товары</a:t>
            </a:r>
            <a:r>
              <a:rPr dirty="0"/>
              <a:t> в PostgreSQL;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эмбеддингов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Python и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преобразует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в 384-мерный </a:t>
            </a:r>
            <a:r>
              <a:rPr dirty="0" err="1"/>
              <a:t>вектор</a:t>
            </a:r>
            <a:r>
              <a:rPr dirty="0"/>
              <a:t> </a:t>
            </a:r>
            <a:r>
              <a:rPr dirty="0" err="1"/>
              <a:t>моделью</a:t>
            </a:r>
            <a:r>
              <a:rPr dirty="0"/>
              <a:t> </a:t>
            </a:r>
            <a:r>
              <a:rPr dirty="0" err="1"/>
              <a:t>MiniLM</a:t>
            </a:r>
            <a:r>
              <a:rPr dirty="0"/>
              <a:t>; </a:t>
            </a:r>
            <a:r>
              <a:rPr dirty="0" err="1"/>
              <a:t>поисковый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Go </a:t>
            </a:r>
            <a:r>
              <a:rPr dirty="0" err="1"/>
              <a:t>строит</a:t>
            </a:r>
            <a:r>
              <a:rPr dirty="0"/>
              <a:t> HNSW-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средствами</a:t>
            </a:r>
            <a:r>
              <a:rPr dirty="0"/>
              <a:t> </a:t>
            </a:r>
            <a:r>
              <a:rPr dirty="0" err="1"/>
              <a:t>USearch</a:t>
            </a:r>
            <a:r>
              <a:rPr dirty="0"/>
              <a:t> и </a:t>
            </a:r>
            <a:r>
              <a:rPr dirty="0" err="1"/>
              <a:t>обрабатывает</a:t>
            </a:r>
            <a:r>
              <a:rPr dirty="0"/>
              <a:t> </a:t>
            </a:r>
            <a:r>
              <a:rPr dirty="0" err="1"/>
              <a:t>kNN-запросы</a:t>
            </a:r>
            <a:r>
              <a:rPr dirty="0"/>
              <a:t>. </a:t>
            </a:r>
            <a:r>
              <a:rPr dirty="0" err="1"/>
              <a:t>Наружу</a:t>
            </a:r>
            <a:r>
              <a:rPr dirty="0"/>
              <a:t> </a:t>
            </a:r>
            <a:r>
              <a:rPr dirty="0" err="1"/>
              <a:t>открыт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шлюза</a:t>
            </a:r>
            <a:r>
              <a:rPr dirty="0"/>
              <a:t> —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dirty="0"/>
              <a:t> </a:t>
            </a:r>
            <a:r>
              <a:rPr dirty="0" err="1"/>
              <a:t>взаимодействуют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HTTP. </a:t>
            </a:r>
            <a:r>
              <a:rPr dirty="0" err="1"/>
              <a:t>Справа</a:t>
            </a:r>
            <a:r>
              <a:rPr dirty="0"/>
              <a:t> </a:t>
            </a:r>
            <a:r>
              <a:rPr dirty="0" err="1"/>
              <a:t>показан</a:t>
            </a:r>
            <a:r>
              <a:rPr dirty="0"/>
              <a:t> </a:t>
            </a:r>
            <a:r>
              <a:rPr dirty="0" err="1"/>
              <a:t>конвейер</a:t>
            </a:r>
            <a:r>
              <a:rPr dirty="0"/>
              <a:t> </a:t>
            </a:r>
            <a:r>
              <a:rPr dirty="0" err="1"/>
              <a:t>индексации</a:t>
            </a:r>
            <a:r>
              <a:rPr dirty="0"/>
              <a:t>: </a:t>
            </a:r>
            <a:r>
              <a:rPr dirty="0" err="1"/>
              <a:t>постраничная</a:t>
            </a:r>
            <a:r>
              <a:rPr dirty="0"/>
              <a:t> </a:t>
            </a:r>
            <a:r>
              <a:rPr dirty="0" err="1"/>
              <a:t>загрузка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формирование</a:t>
            </a:r>
            <a:r>
              <a:rPr dirty="0"/>
              <a:t> </a:t>
            </a:r>
            <a:r>
              <a:rPr dirty="0" err="1"/>
              <a:t>текста</a:t>
            </a:r>
            <a:r>
              <a:rPr dirty="0"/>
              <a:t> </a:t>
            </a:r>
            <a:r>
              <a:rPr dirty="0" err="1"/>
              <a:t>товара</a:t>
            </a:r>
            <a:r>
              <a:rPr dirty="0"/>
              <a:t>, </a:t>
            </a:r>
            <a:r>
              <a:rPr dirty="0" err="1"/>
              <a:t>вычисление</a:t>
            </a:r>
            <a:r>
              <a:rPr dirty="0"/>
              <a:t> </a:t>
            </a:r>
            <a:r>
              <a:rPr dirty="0" err="1"/>
              <a:t>эмбеддингов</a:t>
            </a:r>
            <a:r>
              <a:rPr dirty="0"/>
              <a:t> </a:t>
            </a:r>
            <a:r>
              <a:rPr dirty="0" err="1"/>
              <a:t>батчами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64 и </a:t>
            </a:r>
            <a:r>
              <a:rPr dirty="0" err="1"/>
              <a:t>добавление</a:t>
            </a:r>
            <a:r>
              <a:rPr dirty="0"/>
              <a:t> в </a:t>
            </a:r>
            <a:r>
              <a:rPr dirty="0" err="1"/>
              <a:t>индекс</a:t>
            </a:r>
            <a:r>
              <a:rPr dirty="0"/>
              <a:t> с </a:t>
            </a:r>
            <a:r>
              <a:rPr dirty="0" err="1"/>
              <a:t>метрикой</a:t>
            </a:r>
            <a:r>
              <a:rPr dirty="0"/>
              <a:t> </a:t>
            </a:r>
            <a:r>
              <a:rPr dirty="0" err="1"/>
              <a:t>скалярного</a:t>
            </a:r>
            <a:r>
              <a:rPr dirty="0"/>
              <a:t> </a:t>
            </a:r>
            <a:r>
              <a:rPr dirty="0" err="1"/>
              <a:t>произведения</a:t>
            </a:r>
            <a:r>
              <a:rPr dirty="0"/>
              <a:t>;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— connectivity 32, expansion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добавлении</a:t>
            </a:r>
            <a:r>
              <a:rPr dirty="0"/>
              <a:t> 128,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поиске</a:t>
            </a:r>
            <a:r>
              <a:rPr dirty="0"/>
              <a:t> 64.</a:t>
            </a:r>
          </a:p>
          <a:p>
            <a:endParaRPr lang="ru-RU" dirty="0"/>
          </a:p>
          <a:p>
            <a:r>
              <a:rPr lang="ru-RU" dirty="0"/>
              <a:t>InnerProduct — метрика сходства на основе скалярного произведения векторов.</a:t>
            </a:r>
          </a:p>
          <a:p>
            <a:r>
              <a:rPr lang="ru-RU" dirty="0"/>
              <a:t>connectivity 32 (M) — параметр HNSW: число связей узла графа с соседями на каждом слое.</a:t>
            </a:r>
          </a:p>
          <a:p>
            <a:r>
              <a:rPr lang="ru-RU" dirty="0"/>
              <a:t>efAdd 128 (efConstruction) — параметр HNSW: размер списка кандидатов при построении индекса.</a:t>
            </a:r>
          </a:p>
          <a:p>
            <a:r>
              <a:rPr lang="ru-RU" dirty="0"/>
              <a:t>efSearch 64 (ef) — параметр HNSW: размер списка кандидатов при выполнении поискового запроса.</a:t>
            </a:r>
          </a:p>
          <a:p>
            <a:r>
              <a:rPr lang="ru-RU" dirty="0"/>
              <a:t>Expansion при добавлении 128, при поиске 64 — значения efConstruction/efSearch, задающие «ширину» просмотра графа при построении индекса и при поиске.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Апробация</a:t>
            </a:r>
            <a:r>
              <a:rPr dirty="0"/>
              <a:t> </a:t>
            </a:r>
            <a:r>
              <a:rPr dirty="0" err="1"/>
              <a:t>прототипа</a:t>
            </a:r>
            <a:r>
              <a:rPr dirty="0"/>
              <a:t> в </a:t>
            </a:r>
            <a:r>
              <a:rPr dirty="0" err="1"/>
              <a:t>сквозном</a:t>
            </a:r>
            <a:r>
              <a:rPr dirty="0"/>
              <a:t> </a:t>
            </a:r>
            <a:r>
              <a:rPr dirty="0" err="1"/>
              <a:t>режиме</a:t>
            </a:r>
            <a:r>
              <a:rPr dirty="0"/>
              <a:t>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docker-compose 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наполняется</a:t>
            </a:r>
            <a:r>
              <a:rPr dirty="0"/>
              <a:t> </a:t>
            </a:r>
            <a:r>
              <a:rPr dirty="0" err="1"/>
              <a:t>представлениями</a:t>
            </a:r>
            <a:r>
              <a:rPr dirty="0"/>
              <a:t> </a:t>
            </a:r>
            <a:r>
              <a:rPr dirty="0" err="1"/>
              <a:t>десяти</a:t>
            </a:r>
            <a:r>
              <a:rPr dirty="0"/>
              <a:t> </a:t>
            </a:r>
            <a:r>
              <a:rPr dirty="0" err="1"/>
              <a:t>тысяч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русском</a:t>
            </a:r>
            <a:r>
              <a:rPr dirty="0"/>
              <a:t> и </a:t>
            </a:r>
            <a:r>
              <a:rPr dirty="0" err="1"/>
              <a:t>английском</a:t>
            </a:r>
            <a:r>
              <a:rPr dirty="0"/>
              <a:t>. </a:t>
            </a:r>
            <a:r>
              <a:rPr dirty="0" err="1"/>
              <a:t>Слева</a:t>
            </a:r>
            <a:r>
              <a:rPr dirty="0"/>
              <a:t> —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веб-фронтенда</a:t>
            </a:r>
            <a:r>
              <a:rPr dirty="0"/>
              <a:t>, </a:t>
            </a:r>
            <a:r>
              <a:rPr dirty="0" err="1"/>
              <a:t>справа</a:t>
            </a:r>
            <a:r>
              <a:rPr dirty="0"/>
              <a:t> — </a:t>
            </a:r>
            <a:r>
              <a:rPr dirty="0" err="1"/>
              <a:t>выдача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запросу</a:t>
            </a:r>
            <a:r>
              <a:rPr dirty="0"/>
              <a:t> «Headphones»: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топ-результаты</a:t>
            </a:r>
            <a:r>
              <a:rPr dirty="0"/>
              <a:t> — </a:t>
            </a:r>
            <a:r>
              <a:rPr dirty="0" err="1"/>
              <a:t>наушники</a:t>
            </a:r>
            <a:r>
              <a:rPr dirty="0"/>
              <a:t> с </a:t>
            </a:r>
            <a:r>
              <a:rPr dirty="0" err="1"/>
              <a:t>косинусным</a:t>
            </a:r>
            <a:r>
              <a:rPr dirty="0"/>
              <a:t> </a:t>
            </a:r>
            <a:r>
              <a:rPr dirty="0" err="1"/>
              <a:t>сходством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0,87, </a:t>
            </a:r>
            <a:r>
              <a:rPr dirty="0" err="1"/>
              <a:t>включая</a:t>
            </a:r>
            <a:r>
              <a:rPr dirty="0"/>
              <a:t> </a:t>
            </a:r>
            <a:r>
              <a:rPr dirty="0" err="1"/>
              <a:t>русскоязычные</a:t>
            </a:r>
            <a:r>
              <a:rPr dirty="0"/>
              <a:t> </a:t>
            </a:r>
            <a:r>
              <a:rPr dirty="0" err="1"/>
              <a:t>карточки</a:t>
            </a:r>
            <a:r>
              <a:rPr dirty="0"/>
              <a:t>,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кросс-язычность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.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осмысленно</a:t>
            </a:r>
            <a:r>
              <a:rPr dirty="0"/>
              <a:t> </a:t>
            </a:r>
            <a:r>
              <a:rPr dirty="0" err="1"/>
              <a:t>близкие</a:t>
            </a:r>
            <a:r>
              <a:rPr dirty="0"/>
              <a:t> </a:t>
            </a:r>
            <a:r>
              <a:rPr dirty="0" err="1"/>
              <a:t>товары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точных</a:t>
            </a:r>
            <a:r>
              <a:rPr dirty="0"/>
              <a:t> </a:t>
            </a:r>
            <a:r>
              <a:rPr dirty="0" err="1"/>
              <a:t>совпадений</a:t>
            </a:r>
            <a:r>
              <a:rPr dirty="0"/>
              <a:t> </a:t>
            </a:r>
            <a:r>
              <a:rPr dirty="0" err="1"/>
              <a:t>слов</a:t>
            </a:r>
            <a:r>
              <a:rPr dirty="0"/>
              <a:t>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количественной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подготовлен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: </a:t>
            </a:r>
            <a:r>
              <a:rPr dirty="0" err="1"/>
              <a:t>набор</a:t>
            </a:r>
            <a:r>
              <a:rPr dirty="0"/>
              <a:t> RU/EN-</a:t>
            </a:r>
            <a:r>
              <a:rPr dirty="0" err="1"/>
              <a:t>запросов</a:t>
            </a:r>
            <a:r>
              <a:rPr dirty="0"/>
              <a:t> с </a:t>
            </a:r>
            <a:r>
              <a:rPr dirty="0" err="1"/>
              <a:t>ожидаемыми</a:t>
            </a:r>
            <a:r>
              <a:rPr dirty="0"/>
              <a:t> </a:t>
            </a:r>
            <a:r>
              <a:rPr dirty="0" err="1"/>
              <a:t>категориями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вычисляются</a:t>
            </a:r>
            <a:r>
              <a:rPr dirty="0"/>
              <a:t> </a:t>
            </a:r>
            <a:r>
              <a:rPr dirty="0" err="1"/>
              <a:t>precision@k</a:t>
            </a:r>
            <a:r>
              <a:rPr dirty="0"/>
              <a:t>, </a:t>
            </a:r>
            <a:r>
              <a:rPr dirty="0" err="1"/>
              <a:t>recall@k</a:t>
            </a:r>
            <a:r>
              <a:rPr dirty="0"/>
              <a:t> и </a:t>
            </a:r>
            <a:r>
              <a:rPr dirty="0" err="1"/>
              <a:t>задержки</a:t>
            </a:r>
            <a:r>
              <a:rPr dirty="0"/>
              <a:t> p50 и p95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эндпоинте</a:t>
            </a:r>
            <a:r>
              <a:rPr dirty="0"/>
              <a:t> </a:t>
            </a:r>
            <a:r>
              <a:rPr dirty="0" err="1"/>
              <a:t>шлюза</a:t>
            </a:r>
            <a:r>
              <a:rPr dirty="0"/>
              <a:t>.</a:t>
            </a:r>
          </a:p>
          <a:p>
            <a:endParaRPr lang="ru-RU" dirty="0"/>
          </a:p>
          <a:p>
            <a:r>
              <a:rPr lang="ru-RU" dirty="0"/>
              <a:t>precision@k — доля релевантных объектов среди первых k найденных результатов.</a:t>
            </a:r>
          </a:p>
          <a:p>
            <a:r>
              <a:rPr lang="ru-RU" dirty="0"/>
              <a:t>recall@k — доля релевантных объектов, найденных среди первых k результатов, от общего числа релевантных.</a:t>
            </a:r>
          </a:p>
          <a:p>
            <a:r>
              <a:rPr lang="ru-RU" dirty="0"/>
              <a:t>p50 — медиана показателя (например, задержки): значение, не превышаемое в 50% случаев.</a:t>
            </a:r>
          </a:p>
          <a:p>
            <a:r>
              <a:rPr lang="ru-RU" dirty="0"/>
              <a:t>p95 — 95-й перцентиль показателя: значение, не превышаемое в 95% случаев (характеризует «хвостовые» задержки).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Подведу</a:t>
            </a:r>
            <a:r>
              <a:rPr dirty="0"/>
              <a:t> </a:t>
            </a:r>
            <a:r>
              <a:rPr dirty="0" err="1"/>
              <a:t>итоги</a:t>
            </a:r>
            <a:r>
              <a:rPr dirty="0"/>
              <a:t>. </a:t>
            </a:r>
            <a:r>
              <a:rPr dirty="0" err="1"/>
              <a:t>Изучены</a:t>
            </a:r>
            <a:r>
              <a:rPr dirty="0"/>
              <a:t> </a:t>
            </a:r>
            <a:r>
              <a:rPr dirty="0" err="1"/>
              <a:t>математические</a:t>
            </a:r>
            <a:r>
              <a:rPr dirty="0"/>
              <a:t> </a:t>
            </a:r>
            <a:r>
              <a:rPr dirty="0" err="1"/>
              <a:t>основы</a:t>
            </a:r>
            <a:r>
              <a:rPr dirty="0"/>
              <a:t> </a:t>
            </a:r>
            <a:r>
              <a:rPr dirty="0" err="1"/>
              <a:t>векторного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обоснован</a:t>
            </a:r>
            <a:r>
              <a:rPr dirty="0"/>
              <a:t>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перебора</a:t>
            </a:r>
            <a:r>
              <a:rPr dirty="0"/>
              <a:t> к </a:t>
            </a:r>
            <a:r>
              <a:rPr dirty="0" err="1"/>
              <a:t>приближённому</a:t>
            </a:r>
            <a:r>
              <a:rPr dirty="0"/>
              <a:t> </a:t>
            </a:r>
            <a:r>
              <a:rPr dirty="0" err="1"/>
              <a:t>графовому</a:t>
            </a:r>
            <a:r>
              <a:rPr dirty="0"/>
              <a:t> </a:t>
            </a:r>
            <a:r>
              <a:rPr dirty="0" err="1"/>
              <a:t>поиску</a:t>
            </a:r>
            <a:r>
              <a:rPr dirty="0"/>
              <a:t> HNSW. </a:t>
            </a:r>
            <a:r>
              <a:rPr dirty="0" err="1"/>
              <a:t>Проанализирована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маркетплейса</a:t>
            </a:r>
            <a:r>
              <a:rPr dirty="0"/>
              <a:t>, </a:t>
            </a:r>
            <a:r>
              <a:rPr dirty="0" err="1"/>
              <a:t>определены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и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интеграции</a:t>
            </a:r>
            <a:r>
              <a:rPr dirty="0"/>
              <a:t> </a:t>
            </a:r>
            <a:r>
              <a:rPr dirty="0" err="1"/>
              <a:t>векторного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. </a:t>
            </a:r>
            <a:r>
              <a:rPr dirty="0" err="1"/>
              <a:t>Обоснован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инструментов</a:t>
            </a:r>
            <a:r>
              <a:rPr dirty="0"/>
              <a:t>: </a:t>
            </a:r>
            <a:r>
              <a:rPr dirty="0" err="1"/>
              <a:t>библиотека</a:t>
            </a:r>
            <a:r>
              <a:rPr dirty="0"/>
              <a:t> </a:t>
            </a:r>
            <a:r>
              <a:rPr dirty="0" err="1"/>
              <a:t>USearch</a:t>
            </a:r>
            <a:r>
              <a:rPr dirty="0"/>
              <a:t>, </a:t>
            </a:r>
            <a:r>
              <a:rPr dirty="0" err="1"/>
              <a:t>язык</a:t>
            </a:r>
            <a:r>
              <a:rPr dirty="0"/>
              <a:t> Go и </a:t>
            </a:r>
            <a:r>
              <a:rPr dirty="0" err="1"/>
              <a:t>многоязычная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MiniLM</a:t>
            </a:r>
            <a:r>
              <a:rPr dirty="0"/>
              <a:t>. </a:t>
            </a:r>
            <a:r>
              <a:rPr dirty="0" err="1"/>
              <a:t>Разработан</a:t>
            </a:r>
            <a:r>
              <a:rPr dirty="0"/>
              <a:t> и </a:t>
            </a:r>
            <a:r>
              <a:rPr dirty="0" err="1"/>
              <a:t>апробирован</a:t>
            </a:r>
            <a:r>
              <a:rPr dirty="0"/>
              <a:t> </a:t>
            </a:r>
            <a:r>
              <a:rPr dirty="0" err="1"/>
              <a:t>демонстрационный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пяти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, </a:t>
            </a:r>
            <a:r>
              <a:rPr dirty="0" err="1"/>
              <a:t>подтвердивший</a:t>
            </a:r>
            <a:r>
              <a:rPr dirty="0"/>
              <a:t> </a:t>
            </a:r>
            <a:r>
              <a:rPr dirty="0" err="1"/>
              <a:t>семантический</a:t>
            </a:r>
            <a:r>
              <a:rPr dirty="0"/>
              <a:t> и </a:t>
            </a:r>
            <a:r>
              <a:rPr dirty="0" err="1"/>
              <a:t>кросс-язычный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каталоге</a:t>
            </a:r>
            <a:r>
              <a:rPr dirty="0"/>
              <a:t> в </a:t>
            </a:r>
            <a:r>
              <a:rPr dirty="0" err="1"/>
              <a:t>десять</a:t>
            </a:r>
            <a:r>
              <a:rPr dirty="0"/>
              <a:t> </a:t>
            </a:r>
            <a:r>
              <a:rPr dirty="0" err="1"/>
              <a:t>тысяч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.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достигнута</a:t>
            </a:r>
            <a:r>
              <a:rPr dirty="0"/>
              <a:t>,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решены</a:t>
            </a:r>
            <a:r>
              <a:rPr dirty="0"/>
              <a:t>. </a:t>
            </a:r>
            <a:r>
              <a:rPr dirty="0" err="1"/>
              <a:t>Направления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: </a:t>
            </a:r>
            <a:r>
              <a:rPr dirty="0" err="1"/>
              <a:t>гибридный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шардирование</a:t>
            </a:r>
            <a:r>
              <a:rPr dirty="0"/>
              <a:t> и </a:t>
            </a:r>
            <a:r>
              <a:rPr dirty="0" err="1"/>
              <a:t>квантование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мультимодальные</a:t>
            </a:r>
            <a:r>
              <a:rPr dirty="0"/>
              <a:t> </a:t>
            </a:r>
            <a:r>
              <a:rPr dirty="0" err="1"/>
              <a:t>эмбеддинги</a:t>
            </a:r>
            <a:r>
              <a:rPr dirty="0"/>
              <a:t>, </a:t>
            </a:r>
            <a:r>
              <a:rPr dirty="0" err="1"/>
              <a:t>дообучение</a:t>
            </a:r>
            <a:r>
              <a:rPr dirty="0"/>
              <a:t> </a:t>
            </a:r>
            <a:r>
              <a:rPr dirty="0" err="1"/>
              <a:t>энкодера</a:t>
            </a:r>
            <a:r>
              <a:rPr dirty="0"/>
              <a:t> и </a:t>
            </a:r>
            <a:r>
              <a:rPr dirty="0" err="1"/>
              <a:t>обучаемое</a:t>
            </a:r>
            <a:r>
              <a:rPr dirty="0"/>
              <a:t> </a:t>
            </a:r>
            <a:r>
              <a:rPr dirty="0" err="1"/>
              <a:t>переранжирование</a:t>
            </a:r>
            <a:r>
              <a:rPr dirty="0"/>
              <a:t>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промышленная</a:t>
            </a:r>
            <a:r>
              <a:rPr dirty="0"/>
              <a:t> </a:t>
            </a:r>
            <a:r>
              <a:rPr dirty="0" err="1"/>
              <a:t>интеграция</a:t>
            </a:r>
            <a:r>
              <a:rPr dirty="0"/>
              <a:t> с </a:t>
            </a:r>
            <a:r>
              <a:rPr dirty="0" err="1"/>
              <a:t>экспериментами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реальных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endParaRPr lang="ru-RU" dirty="0"/>
          </a:p>
          <a:p>
            <a:r>
              <a:rPr lang="ru-RU" dirty="0"/>
              <a:t>Гибридный поиск — сочетание векторного (семантического) и классического полнотекстового поиска для повышения точности выдачи.</a:t>
            </a:r>
          </a:p>
          <a:p>
            <a:r>
              <a:rPr lang="ru-RU" dirty="0"/>
              <a:t>Шардирование — разбиение индекса или данных на несколько частей (шардов) для масштабирования при росте каталога.</a:t>
            </a:r>
          </a:p>
          <a:p>
            <a:r>
              <a:rPr lang="ru-RU" dirty="0"/>
              <a:t>Мультимодальные эмбеддинги — векторные представления, объединяющие разные типы данных (текст, изображение) в едином пространстве.</a:t>
            </a:r>
          </a:p>
          <a:p>
            <a:r>
              <a:rPr lang="ru-RU" dirty="0"/>
              <a:t>Переранжирование (re-ranking) — дополнительный этап уточнения порядка результатов поиска обучаемой моделью после первичной выборки кандидатов.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Благодарю за внимание!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89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1463040"/>
            <a:ext cx="3657600" cy="3657600"/>
          </a:xfrm>
          <a:prstGeom prst="ellipse">
            <a:avLst/>
          </a:prstGeom>
          <a:solidFill>
            <a:srgbClr val="F0A6CA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4480560"/>
            <a:ext cx="3017520" cy="3017520"/>
          </a:xfrm>
          <a:prstGeom prst="ellipse">
            <a:avLst/>
          </a:prstGeom>
          <a:solidFill>
            <a:srgbClr val="EFC3E6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B8BEDD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-822960"/>
            <a:ext cx="2011680" cy="2011680"/>
          </a:xfrm>
          <a:prstGeom prst="ellipse">
            <a:avLst/>
          </a:prstGeom>
          <a:solidFill>
            <a:srgbClr val="EFC3E6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"/>
            <a:ext cx="999439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ГАОУ ВО «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Дагестанский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государственный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университет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народного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хозяйства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»</a:t>
            </a:r>
          </a:p>
          <a:p>
            <a:pPr algn="ctr">
              <a:spcAft>
                <a:spcPts val="300"/>
              </a:spcAft>
            </a:pPr>
            <a:r>
              <a:rPr sz="1150" b="0" i="0" dirty="0" err="1">
                <a:solidFill>
                  <a:srgbClr val="F0E6EF"/>
                </a:solidFill>
                <a:latin typeface="Calibri"/>
              </a:rPr>
              <a:t>Кафедра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 «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Информационные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технологии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 и 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информационная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безопасность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»</a:t>
            </a:r>
          </a:p>
          <a:p>
            <a:pPr algn="ctr"/>
            <a:r>
              <a:rPr sz="1150" b="0" i="0" dirty="0">
                <a:solidFill>
                  <a:srgbClr val="F0E6EF"/>
                </a:solidFill>
                <a:latin typeface="Calibri"/>
              </a:rPr>
              <a:t>09.04.03 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Прикладная</a:t>
            </a:r>
            <a:r>
              <a:rPr sz="1150" b="0" i="0" dirty="0">
                <a:solidFill>
                  <a:srgbClr val="F0E6EF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F0E6EF"/>
                </a:solidFill>
                <a:latin typeface="Calibri"/>
              </a:rPr>
              <a:t>информатик</a:t>
            </a:r>
            <a:r>
              <a:rPr lang="ru-RU" sz="1150" b="0" i="0" dirty="0">
                <a:solidFill>
                  <a:srgbClr val="F0E6EF"/>
                </a:solidFill>
                <a:latin typeface="Calibri"/>
              </a:rPr>
              <a:t>а · профиль «Информационные системы в экономике и управлении»</a:t>
            </a:r>
            <a:endParaRPr sz="1150" b="0" i="0" dirty="0">
              <a:solidFill>
                <a:srgbClr val="F0E6E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 spc="350">
                <a:solidFill>
                  <a:srgbClr val="EFC3E6"/>
                </a:solidFill>
                <a:latin typeface="Calibri"/>
              </a:rPr>
              <a:t>ВЫПУСКНАЯ КВАЛИФИКАЦИОННАЯ РАБОТА МАГИСТРА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10268712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«Адаптация векторного поиска в производственную деятельность маркетплейса»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4224528"/>
            <a:ext cx="5943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4389120"/>
            <a:ext cx="5577840" cy="464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0" dirty="0" err="1">
                <a:solidFill>
                  <a:srgbClr val="8B7FA6"/>
                </a:solidFill>
                <a:latin typeface="Calibri"/>
              </a:rPr>
              <a:t>Выполнил</a:t>
            </a:r>
            <a:r>
              <a:rPr sz="1250" b="0" i="0" dirty="0">
                <a:solidFill>
                  <a:srgbClr val="8B7FA6"/>
                </a:solidFill>
                <a:latin typeface="Calibri"/>
              </a:rPr>
              <a:t>:  </a:t>
            </a:r>
            <a:r>
              <a:rPr sz="1350" b="1" i="0" dirty="0">
                <a:solidFill>
                  <a:srgbClr val="3F3552"/>
                </a:solidFill>
                <a:latin typeface="Calibri"/>
              </a:rPr>
              <a:t>Анхаев </a:t>
            </a:r>
            <a:r>
              <a:rPr sz="1350" b="1" i="0" dirty="0" err="1">
                <a:solidFill>
                  <a:srgbClr val="3F3552"/>
                </a:solidFill>
                <a:latin typeface="Calibri"/>
              </a:rPr>
              <a:t>Абдулла</a:t>
            </a:r>
            <a:r>
              <a:rPr sz="1350" b="1" i="0" dirty="0">
                <a:solidFill>
                  <a:srgbClr val="3F3552"/>
                </a:solidFill>
                <a:latin typeface="Calibri"/>
              </a:rPr>
              <a:t> Шамилевич</a:t>
            </a:r>
          </a:p>
          <a:p>
            <a:pPr algn="ctr">
              <a:spcAft>
                <a:spcPts val="500"/>
              </a:spcAft>
            </a:pPr>
            <a:r>
              <a:rPr sz="1250" b="0" i="0" dirty="0" err="1">
                <a:solidFill>
                  <a:srgbClr val="8B7FA6"/>
                </a:solidFill>
                <a:latin typeface="Calibri"/>
              </a:rPr>
              <a:t>Руководитель</a:t>
            </a:r>
            <a:r>
              <a:rPr sz="1250" b="0" i="0" dirty="0">
                <a:solidFill>
                  <a:srgbClr val="8B7FA6"/>
                </a:solidFill>
                <a:latin typeface="Calibri"/>
              </a:rPr>
              <a:t>: 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к.э.н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.,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доцент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Раджабов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Карахан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Якубович</a:t>
            </a:r>
            <a:endParaRPr sz="1250" b="1" i="0" dirty="0">
              <a:solidFill>
                <a:srgbClr val="3F355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Махачкала — 2026</a:t>
            </a:r>
          </a:p>
        </p:txBody>
      </p:sp>
      <p:sp>
        <p:nvSpPr>
          <p:cNvPr id="12" name="Oval 11"/>
          <p:cNvSpPr/>
          <p:nvPr/>
        </p:nvSpPr>
        <p:spPr>
          <a:xfrm>
            <a:off x="11292840" y="6519672"/>
            <a:ext cx="109728" cy="109728"/>
          </a:xfrm>
          <a:prstGeom prst="ellipse">
            <a:avLst/>
          </a:prstGeom>
          <a:solidFill>
            <a:srgbClr val="F0A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94008" y="6519672"/>
            <a:ext cx="109728" cy="109728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695176" y="6519672"/>
            <a:ext cx="109728" cy="109728"/>
          </a:xfrm>
          <a:prstGeom prst="ellipse">
            <a:avLst/>
          </a:prstGeom>
          <a:solidFill>
            <a:srgbClr val="B8B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Актуальность и 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5D4E7B"/>
                </a:solidFill>
                <a:latin typeface="Cambria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806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Каталоги маркетплейсов — десятки миллионов товаров; качество и скорость поиска определяют конверсию и выручку</a:t>
            </a:r>
          </a:p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Лексический поиск не понимает семантику запроса: опечатки, синонимы, многоязычные описания</a:t>
            </a: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Векторный поиск: товары и запросы — эмбеддинги, релевантность — близость векторов в пространстве признаков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5806440" cy="2651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3785615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Задачи исследования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169663"/>
            <a:ext cx="530352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0000"/>
              </a:lnSpc>
              <a:spcAft>
                <a:spcPts val="1100"/>
              </a:spcAft>
              <a:buClr>
                <a:srgbClr val="9C89B8"/>
              </a:buClr>
              <a:buFont typeface="Arial"/>
              <a:buAutoNum type="arabicPeriod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Математические основы: эмбеддинги, метрики, kNN, ANN, HNSW</a:t>
            </a:r>
          </a:p>
          <a:p>
            <a:pPr marL="192024" indent="-192024" algn="l">
              <a:lnSpc>
                <a:spcPct val="100000"/>
              </a:lnSpc>
              <a:spcAft>
                <a:spcPts val="1100"/>
              </a:spcAft>
              <a:buClr>
                <a:srgbClr val="9C89B8"/>
              </a:buClr>
              <a:buFont typeface="Arial"/>
              <a:buAutoNum type="arabicPeriod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Архитектура маркетплейса и требования к векторному поиску</a:t>
            </a:r>
          </a:p>
          <a:p>
            <a:pPr marL="192024" indent="-192024" algn="l">
              <a:lnSpc>
                <a:spcPct val="100000"/>
              </a:lnSpc>
              <a:spcAft>
                <a:spcPts val="1100"/>
              </a:spcAft>
              <a:buClr>
                <a:srgbClr val="9C89B8"/>
              </a:buClr>
              <a:buFont typeface="Arial"/>
              <a:buAutoNum type="arabicPeriod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Обзор библиотек, обоснование выбора USearch и языка Go</a:t>
            </a:r>
          </a:p>
          <a:p>
            <a:pPr marL="192024" indent="-192024" algn="l">
              <a:lnSpc>
                <a:spcPct val="100000"/>
              </a:lnSpc>
              <a:spcAft>
                <a:spcPts val="1100"/>
              </a:spcAft>
              <a:buClr>
                <a:srgbClr val="9C89B8"/>
              </a:buClr>
              <a:buFont typeface="Arial"/>
              <a:buAutoNum type="arabicPeriod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Конвейер вычисления эмбеддингов товаров и запросов</a:t>
            </a:r>
          </a:p>
          <a:p>
            <a:pPr marL="192024" indent="-192024" algn="l">
              <a:lnSpc>
                <a:spcPct val="100000"/>
              </a:lnSpc>
              <a:spcAft>
                <a:spcPts val="1100"/>
              </a:spcAft>
              <a:buClr>
                <a:srgbClr val="9C89B8"/>
              </a:buClr>
              <a:buFont typeface="Arial"/>
              <a:buAutoNum type="arabicPeriod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Разработка прототипа, оценка качества и скорости поиска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71600"/>
            <a:ext cx="49651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12864" y="1554480"/>
            <a:ext cx="118872" cy="118872"/>
          </a:xfrm>
          <a:prstGeom prst="ellipse">
            <a:avLst/>
          </a:prstGeom>
          <a:solidFill>
            <a:srgbClr val="F0A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8" y="1508760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 spc="200">
                <a:solidFill>
                  <a:srgbClr val="9C89B8"/>
                </a:solidFill>
                <a:latin typeface="Calibri"/>
              </a:rPr>
              <a:t>ОБЪЕКТ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1801368"/>
            <a:ext cx="4526280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Процессы поиска и подбора товаров в производственной деятельности маркетплейса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32888"/>
            <a:ext cx="4965192" cy="1161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912864" y="2715768"/>
            <a:ext cx="118872" cy="118872"/>
          </a:xfrm>
          <a:prstGeom prst="ellipse">
            <a:avLst/>
          </a:prstGeom>
          <a:solidFill>
            <a:srgbClr val="B8B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0608" y="2670048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 spc="200">
                <a:solidFill>
                  <a:srgbClr val="9C89B8"/>
                </a:solidFill>
                <a:latin typeface="Calibri"/>
              </a:rPr>
              <a:t>ПРЕДМЕТ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2962656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Технологии векторного (семантического) поиска и методы их адаптации к платформам электронной коммерции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831336"/>
            <a:ext cx="4965192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12864" y="4014216"/>
            <a:ext cx="118872" cy="118872"/>
          </a:xfrm>
          <a:prstGeom prst="ellipse">
            <a:avLst/>
          </a:prstGeom>
          <a:solidFill>
            <a:srgbClr val="9C8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3968496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 spc="200">
                <a:solidFill>
                  <a:srgbClr val="9C89B8"/>
                </a:solidFill>
                <a:latin typeface="Calibri"/>
              </a:rPr>
              <a:t>ЦЕЛЬ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4261104"/>
            <a:ext cx="4526280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Изучить возможности адаптации векторного поиска и разработать демонстрационный прототип маркетплейса с семантическим поиском (Go + USearch)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266944"/>
            <a:ext cx="49651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12864" y="5449824"/>
            <a:ext cx="118872" cy="118872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0608" y="5404104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 spc="200">
                <a:solidFill>
                  <a:srgbClr val="9C89B8"/>
                </a:solidFill>
                <a:latin typeface="Calibri"/>
              </a:rPr>
              <a:t>ПРАКТИЧЕСКАЯ ЗНАЧИМОСТЬ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5696712"/>
            <a:ext cx="4526280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Архитектурные решения и прототип применимы при модернизации поисковых подсистем реальных платформ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1721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ГЛАВА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Математические основы векторного поиска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62356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Представление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01952"/>
            <a:ext cx="5120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Товар (название + категория + описание) → текст → </a:t>
            </a:r>
            <a:r>
              <a:rPr sz="1200" b="1" i="0">
                <a:solidFill>
                  <a:srgbClr val="3F3552"/>
                </a:solidFill>
                <a:latin typeface="Calibri"/>
              </a:rPr>
              <a:t>эмбеддинг</a:t>
            </a:r>
            <a:r>
              <a:rPr sz="1200" b="0" i="0">
                <a:solidFill>
                  <a:srgbClr val="3F3552"/>
                </a:solidFill>
                <a:latin typeface="Calibri"/>
              </a:rPr>
              <a:t> — плотный вектор размерности 10²–10³</a:t>
            </a:r>
          </a:p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Близость векторов отражает смысловое сходство объектов</a:t>
            </a: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Поиск релевантных товаров — задача k ближайших соседей (kNN)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285232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53619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Метрики близости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1920240"/>
            <a:ext cx="480060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3F3552"/>
                </a:solidFill>
                <a:latin typeface="Cambria"/>
              </a:rPr>
              <a:t>d(x, y) = √ Σ</a:t>
            </a:r>
            <a:r>
              <a:rPr sz="1450" b="0" i="0" baseline="-22000">
                <a:solidFill>
                  <a:srgbClr val="3F3552"/>
                </a:solidFill>
                <a:latin typeface="Cambria"/>
              </a:rPr>
              <a:t>i</a:t>
            </a:r>
            <a:r>
              <a:rPr sz="1450" b="0" i="0">
                <a:solidFill>
                  <a:srgbClr val="3F3552"/>
                </a:solidFill>
                <a:latin typeface="Cambria"/>
              </a:rPr>
              <a:t> (x</a:t>
            </a:r>
            <a:r>
              <a:rPr sz="1450" b="0" i="0" baseline="-22000">
                <a:solidFill>
                  <a:srgbClr val="3F3552"/>
                </a:solidFill>
                <a:latin typeface="Cambria"/>
              </a:rPr>
              <a:t>i</a:t>
            </a:r>
            <a:r>
              <a:rPr sz="1450" b="0" i="0">
                <a:solidFill>
                  <a:srgbClr val="3F3552"/>
                </a:solidFill>
                <a:latin typeface="Cambria"/>
              </a:rPr>
              <a:t> − y</a:t>
            </a:r>
            <a:r>
              <a:rPr sz="1450" b="0" i="0" baseline="-22000">
                <a:solidFill>
                  <a:srgbClr val="3F3552"/>
                </a:solidFill>
                <a:latin typeface="Cambria"/>
              </a:rPr>
              <a:t>i</a:t>
            </a:r>
            <a:r>
              <a:rPr sz="1450" b="0" i="0">
                <a:solidFill>
                  <a:srgbClr val="3F3552"/>
                </a:solidFill>
                <a:latin typeface="Cambria"/>
              </a:rPr>
              <a:t>)²</a:t>
            </a:r>
            <a:r>
              <a:rPr sz="1150" b="0" i="0">
                <a:solidFill>
                  <a:srgbClr val="8B7FA6"/>
                </a:solidFill>
                <a:latin typeface="Calibri"/>
              </a:rPr>
              <a:t>   — евклидово расстояние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3F3552"/>
                </a:solidFill>
                <a:latin typeface="Cambria"/>
              </a:rPr>
              <a:t>cos(x, y) = x · y / (|x| · |y|)</a:t>
            </a:r>
            <a:r>
              <a:rPr sz="1150" b="0" i="0">
                <a:solidFill>
                  <a:srgbClr val="8B7FA6"/>
                </a:solidFill>
                <a:latin typeface="Calibri"/>
              </a:rPr>
              <a:t>   — косинусная мера</a:t>
            </a:r>
          </a:p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B7FA6"/>
                </a:solidFill>
                <a:latin typeface="Calibri"/>
              </a:rPr>
              <a:t>Косинусная мера — стандарт для текстовых эмбеддингов; для нормированных векторов = скалярное произведение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62356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00507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«Проклятие размерности»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70832"/>
            <a:ext cx="512064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Полный перебор — O(N·n): не масштабируется на миллионы товаров</a:t>
            </a:r>
          </a:p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k-d, ball- и R-деревья эффективны лишь до десятков измерений</a:t>
            </a: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Выход — приближённый поиск (ANN): случайные проекции, LSH, IVF/PQ, графовые методы</a:t>
            </a:r>
          </a:p>
          <a:p>
            <a:pPr algn="l">
              <a:lnSpc>
                <a:spcPct val="102000"/>
              </a:lnSpc>
            </a:pPr>
            <a:r>
              <a:rPr sz="1150" b="0" i="1">
                <a:solidFill>
                  <a:srgbClr val="8B7FA6"/>
                </a:solidFill>
                <a:latin typeface="Calibri"/>
              </a:rPr>
              <a:t>В пространствах сотен измерений расстояния «концентрируются» — точные структуры теряют эффективность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840480"/>
            <a:ext cx="5285232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400507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HNSW — навигируемые малые миры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4370832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7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Многослойный граф близости: верхние слои — «дальние» связи, нижний — точный поиск</a:t>
            </a: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00" b="0" i="0">
                <a:solidFill>
                  <a:srgbClr val="3F3552"/>
                </a:solidFill>
                <a:latin typeface="Calibri"/>
              </a:rPr>
              <a:t>Лучший баланс полноты и скорости — стандарт отрасли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1112" y="5870448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5870448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5D4E7B"/>
                </a:solidFill>
                <a:latin typeface="Cambria"/>
              </a:rPr>
              <a:t>O(N·n)  →  O(log 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87000" y="4526280"/>
            <a:ext cx="822960" cy="0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012680" y="4526280"/>
            <a:ext cx="274320" cy="667512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4526280"/>
            <a:ext cx="411480" cy="667512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109960" y="4526280"/>
            <a:ext cx="274320" cy="667512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12680" y="5193792"/>
            <a:ext cx="685800" cy="0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698480" y="5193792"/>
            <a:ext cx="685800" cy="0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875520" y="5193792"/>
            <a:ext cx="137160" cy="676656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5193792"/>
            <a:ext cx="228600" cy="676656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625328" y="5193792"/>
            <a:ext cx="73152" cy="676656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009376" y="5193792"/>
            <a:ext cx="374904" cy="676656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384280" y="5193792"/>
            <a:ext cx="9144" cy="676656"/>
          </a:xfrm>
          <a:prstGeom prst="line">
            <a:avLst/>
          </a:prstGeom>
          <a:ln w="12700">
            <a:solidFill>
              <a:srgbClr val="9C89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218420" y="4457700"/>
            <a:ext cx="137160" cy="137160"/>
          </a:xfrm>
          <a:prstGeom prst="ellipse">
            <a:avLst/>
          </a:prstGeom>
          <a:solidFill>
            <a:srgbClr val="F0A6C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041380" y="4457700"/>
            <a:ext cx="137160" cy="137160"/>
          </a:xfrm>
          <a:prstGeom prst="ellipse">
            <a:avLst/>
          </a:prstGeom>
          <a:solidFill>
            <a:srgbClr val="F0A6C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48672" y="5129783"/>
            <a:ext cx="128016" cy="128016"/>
          </a:xfrm>
          <a:prstGeom prst="ellipse">
            <a:avLst/>
          </a:prstGeom>
          <a:solidFill>
            <a:srgbClr val="9C89B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634472" y="5129783"/>
            <a:ext cx="128016" cy="128016"/>
          </a:xfrm>
          <a:prstGeom prst="ellipse">
            <a:avLst/>
          </a:prstGeom>
          <a:solidFill>
            <a:srgbClr val="9C89B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320272" y="5129783"/>
            <a:ext cx="128016" cy="128016"/>
          </a:xfrm>
          <a:prstGeom prst="ellipse">
            <a:avLst/>
          </a:prstGeom>
          <a:solidFill>
            <a:srgbClr val="9C89B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820656" y="5815584"/>
            <a:ext cx="109728" cy="109728"/>
          </a:xfrm>
          <a:prstGeom prst="ellipse">
            <a:avLst/>
          </a:prstGeom>
          <a:solidFill>
            <a:srgbClr val="B8BED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86415" y="5815584"/>
            <a:ext cx="109728" cy="109728"/>
          </a:xfrm>
          <a:prstGeom prst="ellipse">
            <a:avLst/>
          </a:prstGeom>
          <a:solidFill>
            <a:srgbClr val="B8BED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70463" y="5815584"/>
            <a:ext cx="109728" cy="109728"/>
          </a:xfrm>
          <a:prstGeom prst="ellipse">
            <a:avLst/>
          </a:prstGeom>
          <a:solidFill>
            <a:srgbClr val="B8BED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54511" y="5815584"/>
            <a:ext cx="109728" cy="109728"/>
          </a:xfrm>
          <a:prstGeom prst="ellipse">
            <a:avLst/>
          </a:prstGeom>
          <a:solidFill>
            <a:srgbClr val="B8BED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338560" y="5815584"/>
            <a:ext cx="109728" cy="109728"/>
          </a:xfrm>
          <a:prstGeom prst="ellipse">
            <a:avLst/>
          </a:prstGeom>
          <a:solidFill>
            <a:srgbClr val="B8BED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1685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ГЛАВА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Интеграция поиска в архитектуру маркетплейса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4008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800"/>
              </a:spcAft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Маркетплейс — высоконагруженная распределённая система микросервисов: шлюз, каталог, корзина, заказы, поиск, рекомендации</a:t>
            </a:r>
          </a:p>
          <a:p>
            <a:pPr marL="192024" indent="-192024" algn="l">
              <a:lnSpc>
                <a:spcPct val="105000"/>
              </a:lnSpc>
              <a:spcAft>
                <a:spcPts val="800"/>
              </a:spcAft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Семантический поиск — выделенный векторный сервис и конвейер индексирования рядом с каталогом</a:t>
            </a: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Размещение индекса: встраиваемая библиотека · векторная СУБД · расширение хранилища (pgvector, kNN в Elasticsearch)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29000"/>
            <a:ext cx="640080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3621024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1" i="0">
                <a:solidFill>
                  <a:srgbClr val="5D4E7B"/>
                </a:solidFill>
                <a:latin typeface="Cambria"/>
              </a:rPr>
              <a:t>Конвейер индексирования и поиска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422452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B8B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4224528"/>
            <a:ext cx="120700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Каталог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товаров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4268" y="4553712"/>
            <a:ext cx="201168" cy="256032"/>
          </a:xfrm>
          <a:prstGeom prst="rightArrow">
            <a:avLst/>
          </a:prstGeom>
          <a:solidFill>
            <a:srgbClr val="9C8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86584" y="422452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32303" y="4224528"/>
            <a:ext cx="120700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Сервис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эмбеддингов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26179" y="4553712"/>
            <a:ext cx="201168" cy="256032"/>
          </a:xfrm>
          <a:prstGeom prst="rightArrow">
            <a:avLst/>
          </a:prstGeom>
          <a:solidFill>
            <a:srgbClr val="9C8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68496" y="422452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F0A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14215" y="4224528"/>
            <a:ext cx="120700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Векторный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3F3552"/>
                </a:solidFill>
                <a:latin typeface="Calibri"/>
              </a:rPr>
              <a:t>индекс HNSW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08092" y="4553712"/>
            <a:ext cx="201168" cy="256032"/>
          </a:xfrm>
          <a:prstGeom prst="rightArrow">
            <a:avLst/>
          </a:prstGeom>
          <a:solidFill>
            <a:srgbClr val="9C8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50407" y="4224528"/>
            <a:ext cx="1298448" cy="914400"/>
          </a:xfrm>
          <a:prstGeom prst="roundRect">
            <a:avLst>
              <a:gd name="adj" fmla="val 12000"/>
            </a:avLst>
          </a:prstGeom>
          <a:solidFill>
            <a:srgbClr val="9C8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96127" y="4224528"/>
            <a:ext cx="1207007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Поисковая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выдача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413248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0" i="1" dirty="0" err="1">
                <a:solidFill>
                  <a:srgbClr val="8B7FA6"/>
                </a:solidFill>
                <a:latin typeface="Calibri"/>
              </a:rPr>
              <a:t>товар</a:t>
            </a:r>
            <a:r>
              <a:rPr sz="1150" b="0" i="1" dirty="0">
                <a:solidFill>
                  <a:srgbClr val="8B7FA6"/>
                </a:solidFill>
                <a:latin typeface="Calibri"/>
              </a:rPr>
              <a:t> → </a:t>
            </a:r>
            <a:r>
              <a:rPr sz="1150" b="0" i="1" dirty="0" err="1">
                <a:solidFill>
                  <a:srgbClr val="8B7FA6"/>
                </a:solidFill>
                <a:latin typeface="Calibri"/>
              </a:rPr>
              <a:t>текст</a:t>
            </a:r>
            <a:r>
              <a:rPr sz="1150" b="0" i="1" dirty="0">
                <a:solidFill>
                  <a:srgbClr val="8B7FA6"/>
                </a:solidFill>
                <a:latin typeface="Calibri"/>
              </a:rPr>
              <a:t> → </a:t>
            </a:r>
            <a:r>
              <a:rPr sz="1150" b="0" i="1" dirty="0" err="1">
                <a:solidFill>
                  <a:srgbClr val="8B7FA6"/>
                </a:solidFill>
                <a:latin typeface="Calibri"/>
              </a:rPr>
              <a:t>вектор</a:t>
            </a:r>
            <a:r>
              <a:rPr sz="1150" b="0" i="1" dirty="0">
                <a:solidFill>
                  <a:srgbClr val="8B7FA6"/>
                </a:solidFill>
                <a:latin typeface="Calibri"/>
              </a:rPr>
              <a:t> → k </a:t>
            </a:r>
            <a:r>
              <a:rPr sz="1150" b="0" i="1" dirty="0" err="1">
                <a:solidFill>
                  <a:srgbClr val="8B7FA6"/>
                </a:solidFill>
                <a:latin typeface="Calibri"/>
              </a:rPr>
              <a:t>ближайших</a:t>
            </a:r>
            <a:r>
              <a:rPr sz="1150" b="0" i="1" dirty="0">
                <a:solidFill>
                  <a:srgbClr val="8B7FA6"/>
                </a:solidFill>
                <a:latin typeface="Calibri"/>
              </a:rPr>
              <a:t> </a:t>
            </a:r>
            <a:r>
              <a:rPr sz="1150" b="0" i="1" dirty="0" err="1">
                <a:solidFill>
                  <a:srgbClr val="8B7FA6"/>
                </a:solidFill>
                <a:latin typeface="Calibri"/>
              </a:rPr>
              <a:t>соседей</a:t>
            </a:r>
            <a:endParaRPr sz="1150" b="0" i="1" dirty="0">
              <a:solidFill>
                <a:srgbClr val="8B7FA6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43251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5D4E7B"/>
                </a:solidFill>
                <a:latin typeface="Cambria"/>
              </a:rPr>
              <a:t>Требования маркетплейса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810512"/>
            <a:ext cx="432511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16368" y="1810512"/>
            <a:ext cx="1481328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≤ 200 мс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901952"/>
            <a:ext cx="234086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задержка поиска p95 — мгновенный отклик для пользователя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44368"/>
            <a:ext cx="432511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6368" y="2944368"/>
            <a:ext cx="1481328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≥ 0,95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035808"/>
            <a:ext cx="234086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полнота recall@k — близость ANN-выдачи к точному поиску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078224"/>
            <a:ext cx="432511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4078224"/>
            <a:ext cx="1481328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10³+ QPS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4169663"/>
            <a:ext cx="234086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пропускная способность с учётом пиков распродаж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212079"/>
            <a:ext cx="432511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16368" y="5212079"/>
            <a:ext cx="1481328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минуты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5303519"/>
            <a:ext cx="2340864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актуальность индекса: новый товар быстро попадает в выдачу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0061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ГЛАВА 3 · §3.1–3.2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Выбор инструментов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61772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50" b="1" i="0" dirty="0" err="1">
                <a:solidFill>
                  <a:srgbClr val="3F3552"/>
                </a:solidFill>
                <a:latin typeface="Calibri"/>
              </a:rPr>
              <a:t>Классы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1" i="0" dirty="0" err="1">
                <a:solidFill>
                  <a:srgbClr val="3F3552"/>
                </a:solidFill>
                <a:latin typeface="Calibri"/>
              </a:rPr>
              <a:t>решений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встраиваемые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библиотеки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(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hnswlib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Annoy) ·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векторные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СУБД (Milvus,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Qdrant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) ·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расширения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(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pgvector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Elasticsearch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kNN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)</a:t>
            </a: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50" b="1" i="0" dirty="0" err="1">
                <a:solidFill>
                  <a:srgbClr val="3F3552"/>
                </a:solidFill>
                <a:latin typeface="Calibri"/>
              </a:rPr>
              <a:t>Критерии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полнота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и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скорость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биндинги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для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Go,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простота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развёртывания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ресурсоёмкость</a:t>
            </a:r>
            <a:endParaRPr sz="125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50" b="1" i="0" dirty="0" err="1">
                <a:solidFill>
                  <a:srgbClr val="3F3552"/>
                </a:solidFill>
                <a:latin typeface="Calibri"/>
              </a:rPr>
              <a:t>USearch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компактный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HNSW-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индекс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Go-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биндинги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квантование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персистентность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—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минимальная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задержка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внутри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микросервиса</a:t>
            </a:r>
            <a:endParaRPr sz="125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50" b="1" i="0" dirty="0">
                <a:solidFill>
                  <a:srgbClr val="3F3552"/>
                </a:solidFill>
                <a:latin typeface="Calibri"/>
              </a:rPr>
              <a:t>Go: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язык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высоконагруженных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сетевых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микросервисов</a:t>
            </a:r>
            <a:endParaRPr sz="125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50" b="1" i="0" dirty="0" err="1">
                <a:solidFill>
                  <a:srgbClr val="3F3552"/>
                </a:solidFill>
                <a:latin typeface="Calibri"/>
              </a:rPr>
              <a:t>Модель-энкодер</a:t>
            </a:r>
            <a:r>
              <a:rPr sz="1250" b="1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paraphrase-multilingual-MiniLM-L12-v2 — 384-мерные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нормированные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векторы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единое</a:t>
            </a:r>
            <a:r>
              <a:rPr sz="1250" b="0" i="0" dirty="0">
                <a:solidFill>
                  <a:srgbClr val="3F3552"/>
                </a:solidFill>
                <a:latin typeface="Calibri"/>
              </a:rPr>
              <a:t> RU/EN-</a:t>
            </a:r>
            <a:r>
              <a:rPr sz="1250" b="0" i="0" dirty="0" err="1">
                <a:solidFill>
                  <a:srgbClr val="3F3552"/>
                </a:solidFill>
                <a:latin typeface="Calibri"/>
              </a:rPr>
              <a:t>пространство</a:t>
            </a:r>
            <a:endParaRPr sz="1250" b="0" i="0" dirty="0">
              <a:solidFill>
                <a:srgbClr val="3F3552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5440680"/>
            <a:ext cx="4617720" cy="731520"/>
          </a:xfrm>
          <a:prstGeom prst="roundRect">
            <a:avLst>
              <a:gd name="adj" fmla="val 12000"/>
            </a:avLst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440680"/>
            <a:ext cx="4343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 i="0">
                <a:solidFill>
                  <a:srgbClr val="5D4E7B"/>
                </a:solidFill>
                <a:latin typeface="Cambria"/>
              </a:rPr>
              <a:t>Выбор:  USearch + Go + MiniLM-L12-v2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325880"/>
            <a:ext cx="6172200" cy="47471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17320"/>
            <a:ext cx="5989320" cy="45642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613702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8B7FA6"/>
                </a:solidFill>
                <a:latin typeface="Calibri"/>
              </a:rPr>
              <a:t>Рис. 1 — Сопоставление решений: полнота поиска × пропускная способность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1045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ГЛАВА 3 · §3.3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Демонстрационный прототип VecMarket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1100"/>
              </a:spcAft>
              <a:buClr>
                <a:srgbClr val="F0A6CA"/>
              </a:buClr>
              <a:buFont typeface="Arial"/>
              <a:buChar char="•"/>
            </a:pPr>
            <a:r>
              <a:rPr sz="1300" b="1" i="0">
                <a:solidFill>
                  <a:srgbClr val="5D4E7B"/>
                </a:solidFill>
                <a:latin typeface="Courier New"/>
              </a:rPr>
              <a:t>gateway</a:t>
            </a:r>
            <a:r>
              <a:rPr sz="1200" b="0" i="0">
                <a:solidFill>
                  <a:srgbClr val="3F3552"/>
                </a:solidFill>
                <a:latin typeface="Calibri"/>
              </a:rPr>
              <a:t>   Go · :8080 — единая точка входа, оркестрация, веб-фронтенд</a:t>
            </a:r>
          </a:p>
          <a:p>
            <a:pPr marL="192024" indent="-192024" algn="l">
              <a:lnSpc>
                <a:spcPct val="105000"/>
              </a:lnSpc>
              <a:spcAft>
                <a:spcPts val="1100"/>
              </a:spcAft>
              <a:buClr>
                <a:srgbClr val="F0A6CA"/>
              </a:buClr>
              <a:buFont typeface="Arial"/>
              <a:buChar char="•"/>
            </a:pPr>
            <a:r>
              <a:rPr sz="1300" b="1" i="0">
                <a:solidFill>
                  <a:srgbClr val="5D4E7B"/>
                </a:solidFill>
                <a:latin typeface="Courier New"/>
              </a:rPr>
              <a:t>catalog</a:t>
            </a:r>
            <a:r>
              <a:rPr sz="1200" b="0" i="0">
                <a:solidFill>
                  <a:srgbClr val="3F3552"/>
                </a:solidFill>
                <a:latin typeface="Calibri"/>
              </a:rPr>
              <a:t>   Go + PostgreSQL · :8081 — карточки товаров, REST API</a:t>
            </a:r>
          </a:p>
          <a:p>
            <a:pPr marL="192024" indent="-192024" algn="l">
              <a:lnSpc>
                <a:spcPct val="105000"/>
              </a:lnSpc>
              <a:spcAft>
                <a:spcPts val="1100"/>
              </a:spcAft>
              <a:buClr>
                <a:srgbClr val="F0A6CA"/>
              </a:buClr>
              <a:buFont typeface="Arial"/>
              <a:buChar char="•"/>
            </a:pPr>
            <a:r>
              <a:rPr sz="1300" b="1" i="0">
                <a:solidFill>
                  <a:srgbClr val="5D4E7B"/>
                </a:solidFill>
                <a:latin typeface="Courier New"/>
              </a:rPr>
              <a:t>embedding</a:t>
            </a:r>
            <a:r>
              <a:rPr sz="1200" b="0" i="0">
                <a:solidFill>
                  <a:srgbClr val="3F3552"/>
                </a:solidFill>
                <a:latin typeface="Calibri"/>
              </a:rPr>
              <a:t>   Python + FastAPI · :8082 — текст → вектор (MiniLM, 384)</a:t>
            </a:r>
          </a:p>
          <a:p>
            <a:pPr marL="192024" indent="-192024" algn="l">
              <a:lnSpc>
                <a:spcPct val="105000"/>
              </a:lnSpc>
              <a:spcAft>
                <a:spcPts val="1100"/>
              </a:spcAft>
              <a:buClr>
                <a:srgbClr val="F0A6CA"/>
              </a:buClr>
              <a:buFont typeface="Arial"/>
              <a:buChar char="•"/>
            </a:pPr>
            <a:r>
              <a:rPr sz="1300" b="1" i="0">
                <a:solidFill>
                  <a:srgbClr val="5D4E7B"/>
                </a:solidFill>
                <a:latin typeface="Courier New"/>
              </a:rPr>
              <a:t>search</a:t>
            </a:r>
            <a:r>
              <a:rPr sz="1200" b="0" i="0">
                <a:solidFill>
                  <a:srgbClr val="3F3552"/>
                </a:solidFill>
                <a:latin typeface="Calibri"/>
              </a:rPr>
              <a:t>   Go + USearch · :8083 — HNSW-индекс, kNN-поиск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46704"/>
            <a:ext cx="59436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3511296"/>
            <a:ext cx="5486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dirty="0">
                <a:solidFill>
                  <a:srgbClr val="3F3552"/>
                </a:solidFill>
                <a:latin typeface="Courier New"/>
              </a:rPr>
              <a:t>HNSW: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InnerProduct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· dim 384 · F32 · M 32 ·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efAdd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128 ·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efSearch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64</a:t>
            </a:r>
          </a:p>
          <a:p>
            <a:pPr algn="l"/>
            <a:r>
              <a:rPr sz="1000" b="1" i="0" dirty="0">
                <a:solidFill>
                  <a:srgbClr val="3F3552"/>
                </a:solidFill>
                <a:latin typeface="Courier New"/>
              </a:rPr>
              <a:t>docker-compose: 5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сервисов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·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каталог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10 000 </a:t>
            </a:r>
            <a:r>
              <a:rPr sz="1000" b="1" i="0" dirty="0" err="1">
                <a:solidFill>
                  <a:srgbClr val="3F3552"/>
                </a:solidFill>
                <a:latin typeface="Courier New"/>
              </a:rPr>
              <a:t>товаров</a:t>
            </a:r>
            <a:r>
              <a:rPr sz="1000" b="1" i="0" dirty="0">
                <a:solidFill>
                  <a:srgbClr val="3F3552"/>
                </a:solidFill>
                <a:latin typeface="Courier New"/>
              </a:rPr>
              <a:t> (RU/EN)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590288"/>
            <a:ext cx="3474720" cy="18585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3291840" cy="16756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0520" y="525780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8B7FA6"/>
                </a:solidFill>
                <a:latin typeface="Calibri"/>
              </a:rPr>
              <a:t>Рис. 3 — Архитектура прототипа: наружу открыт только порт шлюза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280160"/>
            <a:ext cx="4663440" cy="508624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71600"/>
            <a:ext cx="4480560" cy="49033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6402985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8B7FA6"/>
                </a:solidFill>
                <a:latin typeface="Calibri"/>
              </a:rPr>
              <a:t>Рис. 2 — Конвейер вычисления эмбеддингов и обновления индекса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479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ГЛАВА 3 · АПРОБАЦИЯ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Семантический поиск в действии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2004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 dirty="0" err="1">
                <a:solidFill>
                  <a:srgbClr val="3F3552"/>
                </a:solidFill>
                <a:latin typeface="Calibri"/>
              </a:rPr>
              <a:t>Каталог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10 000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товаров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(RU/EN);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индекс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строится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автоматически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при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старте</a:t>
            </a:r>
            <a:endParaRPr sz="120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 dirty="0" err="1">
                <a:solidFill>
                  <a:srgbClr val="3F3552"/>
                </a:solidFill>
                <a:latin typeface="Calibri"/>
              </a:rPr>
              <a:t>Запрос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«Headphones» →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релевантные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наушники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сходство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≈ 0,87</a:t>
            </a: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 dirty="0" err="1">
                <a:solidFill>
                  <a:srgbClr val="3F3552"/>
                </a:solidFill>
                <a:latin typeface="Calibri"/>
              </a:rPr>
              <a:t>Кросс-язычный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поиск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: EN-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запрос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находит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RU-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карточки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, и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наоборот</a:t>
            </a:r>
            <a:endParaRPr sz="120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spcAft>
                <a:spcPts val="900"/>
              </a:spcAft>
              <a:buClr>
                <a:srgbClr val="9C89B8"/>
              </a:buClr>
              <a:buFont typeface="Arial"/>
              <a:buChar char="•"/>
            </a:pPr>
            <a:r>
              <a:rPr sz="1200" b="0" i="0" dirty="0" err="1">
                <a:solidFill>
                  <a:srgbClr val="3F3552"/>
                </a:solidFill>
                <a:latin typeface="Calibri"/>
              </a:rPr>
              <a:t>Выдача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устойчива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к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формулировке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поиск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смыслу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, а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точным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словам</a:t>
            </a:r>
            <a:endParaRPr sz="1200" b="0" i="0" dirty="0">
              <a:solidFill>
                <a:srgbClr val="3F3552"/>
              </a:solidFill>
              <a:latin typeface="Calibri"/>
            </a:endParaRPr>
          </a:p>
          <a:p>
            <a:pPr marL="192024" indent="-192024" algn="l">
              <a:lnSpc>
                <a:spcPct val="105000"/>
              </a:lnSpc>
              <a:buClr>
                <a:srgbClr val="9C89B8"/>
              </a:buClr>
              <a:buFont typeface="Arial"/>
              <a:buChar char="•"/>
            </a:pPr>
            <a:r>
              <a:rPr sz="1200" b="0" i="0" dirty="0" err="1">
                <a:solidFill>
                  <a:srgbClr val="3F3552"/>
                </a:solidFill>
                <a:latin typeface="Calibri"/>
              </a:rPr>
              <a:t>Сценарий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оценки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precision@k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recall@k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F3552"/>
                </a:solidFill>
                <a:latin typeface="Calibri"/>
              </a:rPr>
              <a:t>задержки</a:t>
            </a:r>
            <a:r>
              <a:rPr sz="1200" b="0" i="0" dirty="0">
                <a:solidFill>
                  <a:srgbClr val="3F3552"/>
                </a:solidFill>
                <a:latin typeface="Calibri"/>
              </a:rPr>
              <a:t> p50 / p95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25880"/>
            <a:ext cx="3749039" cy="352698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3566160" cy="33441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45552" y="1325880"/>
            <a:ext cx="3749039" cy="3526981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417320"/>
            <a:ext cx="3566160" cy="33441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31920" y="4916869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8B7FA6"/>
                </a:solidFill>
                <a:latin typeface="Calibri"/>
              </a:rPr>
              <a:t>Рис. 4 — Каталог VecMarket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4916869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8B7FA6"/>
                </a:solidFill>
                <a:latin typeface="Calibri"/>
              </a:rPr>
              <a:t>Рис. 5 — Выдача по запросу «Headphones»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360273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5532120"/>
            <a:ext cx="1417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0,87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856" y="5623559"/>
            <a:ext cx="168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косинусное сходство топ-результата поиска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5532120"/>
            <a:ext cx="360273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3" y="5532120"/>
            <a:ext cx="1417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RU ↔ 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1" y="5623559"/>
            <a:ext cx="168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кросс-язычный семантический поиск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5532120"/>
            <a:ext cx="360273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5532120"/>
            <a:ext cx="14173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5D4E7B"/>
                </a:solidFill>
                <a:latin typeface="Cambria"/>
              </a:rPr>
              <a:t>10 000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5623559"/>
            <a:ext cx="16824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3F3552"/>
                </a:solidFill>
                <a:latin typeface="Calibri"/>
              </a:rPr>
              <a:t>товаров в HNSW-индексе прототипа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055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spc="300">
                <a:solidFill>
                  <a:srgbClr val="9C89B8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900" b="1" i="0">
                <a:solidFill>
                  <a:srgbClr val="5D4E7B"/>
                </a:solidFill>
                <a:latin typeface="Cambria"/>
              </a:rPr>
              <a:t>Итоги работы и перспективы развития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715000" cy="4983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5D4E7B"/>
                </a:solidFill>
                <a:latin typeface="Cambria"/>
              </a:rPr>
              <a:t>Результаты работы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121408"/>
            <a:ext cx="274320" cy="274320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909828" y="2267712"/>
            <a:ext cx="45719" cy="5029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55547" y="2199132"/>
            <a:ext cx="91441" cy="11887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61872" y="2084831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Изучены математические основы; обоснован переход от точного kNN к приближённому поиску и HNSW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3008376"/>
            <a:ext cx="274320" cy="274320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909828" y="3154680"/>
            <a:ext cx="45719" cy="50292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55547" y="3086100"/>
            <a:ext cx="91441" cy="118872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61872" y="29718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Определены архитектура интеграции и требования: p95 ≤ 200 мс, recall@k ≥ 0,95, масштабируемость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895344"/>
            <a:ext cx="274320" cy="274320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909828" y="4041648"/>
            <a:ext cx="45719" cy="5029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5547" y="3973068"/>
            <a:ext cx="91441" cy="11887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61872" y="385876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Обоснован выбор инструментов: USearch + Go, модель MiniLM-L12-v2 (384, RU/EN)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782312"/>
            <a:ext cx="274320" cy="274320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909828" y="4928616"/>
            <a:ext cx="45719" cy="5029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55547" y="4860036"/>
            <a:ext cx="91441" cy="118871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61872" y="4745736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Разработан прототип VecMarket: 5 сервисов, docker-compose, сквозная апробация на 10 000 товаров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5669279"/>
            <a:ext cx="274320" cy="274320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909828" y="5815583"/>
            <a:ext cx="45719" cy="50292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55547" y="5747003"/>
            <a:ext cx="91441" cy="118872"/>
          </a:xfrm>
          <a:prstGeom prst="line">
            <a:avLst/>
          </a:prstGeom>
          <a:ln w="30480" cap="rnd">
            <a:solidFill>
              <a:srgbClr val="5D4E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61872" y="5632703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3F3552"/>
                </a:solidFill>
                <a:latin typeface="Calibri"/>
              </a:rPr>
              <a:t>Цель достигнута, задачи решены; подтверждены семантический и кросс-язычный поиск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371600"/>
            <a:ext cx="5102352" cy="4983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14300" dist="38100" dir="2700000" rotWithShape="0">
              <a:srgbClr val="6E5F8E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3992" y="153619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5D4E7B"/>
                </a:solidFill>
                <a:latin typeface="Cambria"/>
              </a:rPr>
              <a:t>Рекомендации и перспективы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057400"/>
            <a:ext cx="46177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6032" indent="-256032" algn="l">
              <a:lnSpc>
                <a:spcPct val="108000"/>
              </a:lnSpc>
              <a:spcAft>
                <a:spcPts val="2700"/>
              </a:spcAft>
              <a:buClr>
                <a:srgbClr val="9C89B8"/>
              </a:buClr>
              <a:buFont typeface="Arial"/>
              <a:buChar char="→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Гибридный поиск: объединение семантической и лексической выдачи</a:t>
            </a:r>
          </a:p>
          <a:p>
            <a:pPr marL="256032" indent="-256032" algn="l">
              <a:lnSpc>
                <a:spcPct val="108000"/>
              </a:lnSpc>
              <a:spcAft>
                <a:spcPts val="2700"/>
              </a:spcAft>
              <a:buClr>
                <a:srgbClr val="9C89B8"/>
              </a:buClr>
              <a:buFont typeface="Arial"/>
              <a:buChar char="→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Масштабирование: шардирование и репликация индекса, квантование векторов</a:t>
            </a:r>
          </a:p>
          <a:p>
            <a:pPr marL="256032" indent="-256032" algn="l">
              <a:lnSpc>
                <a:spcPct val="108000"/>
              </a:lnSpc>
              <a:spcAft>
                <a:spcPts val="2700"/>
              </a:spcAft>
              <a:buClr>
                <a:srgbClr val="9C89B8"/>
              </a:buClr>
              <a:buFont typeface="Arial"/>
              <a:buChar char="→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Мультимодальные эмбеддинги: текст + изображение товара</a:t>
            </a:r>
          </a:p>
          <a:p>
            <a:pPr marL="256032" indent="-256032" algn="l">
              <a:lnSpc>
                <a:spcPct val="108000"/>
              </a:lnSpc>
              <a:spcAft>
                <a:spcPts val="2700"/>
              </a:spcAft>
              <a:buClr>
                <a:srgbClr val="9C89B8"/>
              </a:buClr>
              <a:buFont typeface="Arial"/>
              <a:buChar char="→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Дообучение модели-энкодера на домене маркетплейса; обучаемое переранжирование с бизнес-факторами</a:t>
            </a:r>
          </a:p>
          <a:p>
            <a:pPr marL="256032" indent="-256032" algn="l">
              <a:lnSpc>
                <a:spcPct val="108000"/>
              </a:lnSpc>
              <a:spcAft>
                <a:spcPts val="2700"/>
              </a:spcAft>
              <a:buClr>
                <a:srgbClr val="9C89B8"/>
              </a:buClr>
              <a:buFont typeface="Arial"/>
              <a:buChar char="→"/>
            </a:pPr>
            <a:r>
              <a:rPr sz="1250" b="0" i="0">
                <a:solidFill>
                  <a:srgbClr val="3F3552"/>
                </a:solidFill>
                <a:latin typeface="Calibri"/>
              </a:rPr>
              <a:t>Промышленная интеграция и сравнительные эксперименты на реальных пользовательских данных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8B7FA6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11332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89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371600"/>
            <a:ext cx="3474720" cy="3474720"/>
          </a:xfrm>
          <a:prstGeom prst="ellipse">
            <a:avLst/>
          </a:prstGeom>
          <a:solidFill>
            <a:srgbClr val="EFC3E6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4206240"/>
            <a:ext cx="3566160" cy="3566160"/>
          </a:xfrm>
          <a:prstGeom prst="ellipse">
            <a:avLst/>
          </a:prstGeom>
          <a:solidFill>
            <a:srgbClr val="B8BEDD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F0A6CA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-914400"/>
            <a:ext cx="2194560" cy="2194560"/>
          </a:xfrm>
          <a:prstGeom prst="ellipse">
            <a:avLst/>
          </a:prstGeom>
          <a:solidFill>
            <a:srgbClr val="F0A6C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999439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0E6EF"/>
                </a:solidFill>
                <a:latin typeface="Calibri"/>
              </a:rPr>
              <a:t>Анхаев Абдулла Шамилевич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041648"/>
            <a:ext cx="816559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«Адаптация векторного поиска в производственную деятельность маркетплейса»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F0E6EF"/>
                </a:solidFill>
                <a:latin typeface="Calibri"/>
              </a:rPr>
              <a:t>ДГУНХ · Махачкала — 2026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5577840"/>
            <a:ext cx="109728" cy="109728"/>
          </a:xfrm>
          <a:prstGeom prst="ellipse">
            <a:avLst/>
          </a:prstGeom>
          <a:solidFill>
            <a:srgbClr val="F0A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89320" y="5577840"/>
            <a:ext cx="109728" cy="109728"/>
          </a:xfrm>
          <a:prstGeom prst="ellipse">
            <a:avLst/>
          </a:prstGeom>
          <a:solidFill>
            <a:srgbClr val="EF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90488" y="5577840"/>
            <a:ext cx="109728" cy="109728"/>
          </a:xfrm>
          <a:prstGeom prst="ellipse">
            <a:avLst/>
          </a:prstGeom>
          <a:solidFill>
            <a:srgbClr val="B8B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57F2B6-74C5-48DC-9853-EB085D4631B8}">
  <we:reference id="wa200010001" version="1.0.0.1" store="ru-RU" storeType="OMEX"/>
  <we:alternateReferences>
    <we:reference id="wa200010001" version="1.0.0.1" store="wa200010001" storeType="OMEX"/>
  </we:alternateReferences>
  <we:properties>
    <we:property name="claude.fileId" value="&quot;ad0821e2-a150-4f51-82b7-f4923c56f44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2582</Words>
  <Application>Microsoft Office PowerPoint</Application>
  <PresentationFormat>Широкоэкранный</PresentationFormat>
  <Paragraphs>191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Адаптация векторного поиска в производственную деятельность маркетплейса</dc:title>
  <dc:subject/>
  <dc:creator>Анхаев Абдулла Шамилевич</dc:creator>
  <cp:keywords/>
  <dc:description>generated using python-pptx</dc:description>
  <cp:lastModifiedBy>НАХРЕН ОБЩЕСТВО</cp:lastModifiedBy>
  <cp:revision>6</cp:revision>
  <dcterms:created xsi:type="dcterms:W3CDTF">2013-01-27T09:14:16Z</dcterms:created>
  <dcterms:modified xsi:type="dcterms:W3CDTF">2026-07-04T18:25:03Z</dcterms:modified>
  <cp:category/>
</cp:coreProperties>
</file>